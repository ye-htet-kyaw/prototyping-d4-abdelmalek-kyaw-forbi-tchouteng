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47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377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hardware implementation and the troubleshooting behind our robot. The software gets a lot of attention, but what we learned is that the hardware — the wiring, and even where a sensor physically sits — decides whether the code has any chance of working. I'll show you two real examples from our build: how moving the IR sensors transformed the robot's speed, and how a tiny potentiometer cost us hours of debugging in the wrong place — and how we used AI properly to get out of problems like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hardware comes first. One — wiring is the contract between the code and reality. Every pin on our robot was deliberate: PWM speed on D5 and D10, direction on D6 to D9, the IR sensors on D2 and D3, the ultrasonics on D12, D11, A0 and A1. If one wire is swapped, the bug lives outside the code and no amount of programming will find it. Two — sensor position defines what the robot can know. The software can only react to what the sensors see, so their physical placement sets the behaviour before any code runs. Three — small details decide everything: removing the driver jumpers is what enabled speed control, and a tiny potentiometer decides whether the line is detected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clearest example of hardware shaping behaviour. Our first prototype worked — but it was slow and wobbly. The IR sensors were mounted close together, so the robot saw the edge of the line constantly. It corrected left, right, left, right — non-stop — and all that correcting meant it crawled along the track. We didn't fix this in software. We physically increased the distance between the two IR sensors. That gave the robot a wider corridor where it considers itself on the line, so it corrects far less often, drives straighter — and it immediately became noticeably faster. Same code, different sensor position, completely different robot.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troubleshooting story that cost us the most time. The symptom: the car suddenly wouldn't move, or ignored the line completely — with no obvious reason. Where did we look? In the code. Again and again — re-reading the logic, re-uploading, changing values — convinced the bug was in software. We wasted a lot of time there. The real cause was the sensitivity potentiometer on the IR sensors. It's a tiny screw, and a minor turn shifts the detection threshold enough that the sensor stops seeing the line — so the code was fine all along. The lesson we took away: verify the hardware first. A thirty-second sensor check can save hours of debugging code that was never broken.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 AI played a big role in this project, but we learned it only helps if you brief it right. Three habits made the difference. First, describe the exact behaviour: ‘it stalls below a certain speed’ or ‘it turns the wrong way’ — not just ‘the car doesn't work’. Second, give it the hardware facts — our pin map, the inverted motor wiring, the dead-zone — so the solutions fit our robot and not some generic one. Third, feed the test results back. Every run on the floor refined the next suggestion, and that loop — describe, test, refine — is what produced the kick-start, the ramped steering, and the V-dogleg avoidance. So the takeaway from our hardware journey: respect the wiring, question the sensors before the code, and treat AI like a teammate who's only as good as your description of the problem. Thank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109728"/>
            <a:ext cx="1508760" cy="1508760"/>
          </a:xfrm>
          <a:prstGeom prst="ellipse">
            <a:avLst/>
          </a:prstGeom>
          <a:solidFill>
            <a:srgbClr val="E8EEF6"/>
          </a:solidFill>
          <a:ln/>
        </p:spPr>
        <p:txBody>
          <a:bodyPr/>
          <a:lstStyle/>
          <a:p>
            <a:endParaRPr lang="en-GB"/>
          </a:p>
        </p:txBody>
      </p:sp>
      <p:sp>
        <p:nvSpPr>
          <p:cNvPr id="3" name="Shape 1"/>
          <p:cNvSpPr/>
          <p:nvPr/>
        </p:nvSpPr>
        <p:spPr>
          <a:xfrm>
            <a:off x="-2743200" y="1371600"/>
            <a:ext cx="3840480" cy="3840480"/>
          </a:xfrm>
          <a:prstGeom prst="ellipse">
            <a:avLst/>
          </a:prstGeom>
          <a:solidFill>
            <a:srgbClr val="F6A83B"/>
          </a:solidFill>
          <a:ln/>
        </p:spPr>
        <p:txBody>
          <a:bodyPr/>
          <a:lstStyle/>
          <a:p>
            <a:endParaRPr lang="en-GB"/>
          </a:p>
        </p:txBody>
      </p:sp>
      <p:sp>
        <p:nvSpPr>
          <p:cNvPr id="4" name="Shape 2"/>
          <p:cNvSpPr/>
          <p:nvPr/>
        </p:nvSpPr>
        <p:spPr>
          <a:xfrm>
            <a:off x="-2359152" y="1755648"/>
            <a:ext cx="3072384" cy="3072384"/>
          </a:xfrm>
          <a:prstGeom prst="ellipse">
            <a:avLst/>
          </a:prstGeom>
          <a:solidFill>
            <a:srgbClr val="FFFFFF"/>
          </a:solidFill>
          <a:ln/>
        </p:spPr>
        <p:txBody>
          <a:bodyPr/>
          <a:lstStyle/>
          <a:p>
            <a:endParaRPr lang="en-GB"/>
          </a:p>
        </p:txBody>
      </p:sp>
      <p:sp>
        <p:nvSpPr>
          <p:cNvPr id="5" name="Shape 3"/>
          <p:cNvSpPr/>
          <p:nvPr/>
        </p:nvSpPr>
        <p:spPr>
          <a:xfrm>
            <a:off x="7863840" y="-548640"/>
            <a:ext cx="6035040" cy="6035040"/>
          </a:xfrm>
          <a:prstGeom prst="ellipse">
            <a:avLst/>
          </a:prstGeom>
          <a:solidFill>
            <a:srgbClr val="F6A83B"/>
          </a:solidFill>
          <a:ln/>
        </p:spPr>
        <p:txBody>
          <a:bodyPr/>
          <a:lstStyle/>
          <a:p>
            <a:endParaRPr lang="en-GB"/>
          </a:p>
        </p:txBody>
      </p:sp>
      <p:sp>
        <p:nvSpPr>
          <p:cNvPr id="6" name="Shape 4"/>
          <p:cNvSpPr/>
          <p:nvPr/>
        </p:nvSpPr>
        <p:spPr>
          <a:xfrm>
            <a:off x="8366760" y="-45720"/>
            <a:ext cx="5029200" cy="5029200"/>
          </a:xfrm>
          <a:prstGeom prst="ellipse">
            <a:avLst/>
          </a:prstGeom>
          <a:solidFill>
            <a:srgbClr val="FFFFFF"/>
          </a:solidFill>
          <a:ln/>
        </p:spPr>
        <p:txBody>
          <a:bodyPr/>
          <a:lstStyle/>
          <a:p>
            <a:endParaRPr lang="en-GB"/>
          </a:p>
        </p:txBody>
      </p:sp>
      <p:sp>
        <p:nvSpPr>
          <p:cNvPr id="7" name="Shape 5"/>
          <p:cNvSpPr/>
          <p:nvPr/>
        </p:nvSpPr>
        <p:spPr>
          <a:xfrm>
            <a:off x="5029200" y="3913632"/>
            <a:ext cx="3383280" cy="2560320"/>
          </a:xfrm>
          <a:prstGeom prst="ellipse">
            <a:avLst/>
          </a:prstGeom>
          <a:solidFill>
            <a:srgbClr val="1D3FAE"/>
          </a:solidFill>
          <a:ln/>
        </p:spPr>
        <p:txBody>
          <a:bodyPr/>
          <a:lstStyle/>
          <a:p>
            <a:endParaRPr lang="en-GB"/>
          </a:p>
        </p:txBody>
      </p:sp>
      <p:sp>
        <p:nvSpPr>
          <p:cNvPr id="8" name="Text 6"/>
          <p:cNvSpPr/>
          <p:nvPr/>
        </p:nvSpPr>
        <p:spPr>
          <a:xfrm>
            <a:off x="5349240" y="4041648"/>
            <a:ext cx="2743200" cy="1005840"/>
          </a:xfrm>
          <a:prstGeom prst="rect">
            <a:avLst/>
          </a:prstGeom>
          <a:noFill/>
          <a:ln/>
        </p:spPr>
        <p:txBody>
          <a:bodyPr wrap="square" lIns="0" tIns="0" rIns="0" bIns="0" rtlCol="0" anchor="ctr"/>
          <a:lstStyle/>
          <a:p>
            <a:pPr marL="0" indent="0" algn="ctr">
              <a:lnSpc>
                <a:spcPct val="105000"/>
              </a:lnSpc>
              <a:buNone/>
            </a:pPr>
            <a:r>
              <a:rPr lang="en-US" sz="1500" b="1" dirty="0">
                <a:solidFill>
                  <a:srgbClr val="FFFFFF"/>
                </a:solidFill>
                <a:latin typeface="Arial" pitchFamily="34" charset="0"/>
                <a:ea typeface="Arial" pitchFamily="34" charset="-122"/>
                <a:cs typeface="Arial" pitchFamily="34" charset="-120"/>
              </a:rPr>
              <a:t>ELE Systems</a:t>
            </a:r>
            <a:endParaRPr lang="en-US" sz="1500" dirty="0"/>
          </a:p>
          <a:p>
            <a:pPr marL="0" indent="0" algn="ctr">
              <a:lnSpc>
                <a:spcPct val="105000"/>
              </a:lnSpc>
              <a:buNone/>
            </a:pPr>
            <a:r>
              <a:rPr lang="en-US" sz="1500" b="1" dirty="0">
                <a:solidFill>
                  <a:srgbClr val="FFFFFF"/>
                </a:solidFill>
                <a:latin typeface="Arial" pitchFamily="34" charset="0"/>
                <a:ea typeface="Arial" pitchFamily="34" charset="-122"/>
                <a:cs typeface="Arial" pitchFamily="34" charset="-120"/>
              </a:rPr>
              <a:t>Engineering</a:t>
            </a:r>
            <a:endParaRPr lang="en-US" sz="1500" dirty="0"/>
          </a:p>
          <a:p>
            <a:pPr marL="0" indent="0" algn="ctr">
              <a:lnSpc>
                <a:spcPct val="105000"/>
              </a:lnSpc>
              <a:buNone/>
            </a:pPr>
            <a:r>
              <a:rPr lang="en-US" sz="1500" b="1" dirty="0">
                <a:solidFill>
                  <a:srgbClr val="FFFFFF"/>
                </a:solidFill>
                <a:latin typeface="Arial" pitchFamily="34" charset="0"/>
                <a:ea typeface="Arial" pitchFamily="34" charset="-122"/>
                <a:cs typeface="Arial" pitchFamily="34" charset="-120"/>
              </a:rPr>
              <a:t>SS2026</a:t>
            </a:r>
            <a:endParaRPr lang="en-US" sz="1500" dirty="0"/>
          </a:p>
        </p:txBody>
      </p:sp>
      <p:sp>
        <p:nvSpPr>
          <p:cNvPr id="9" name="Text 7"/>
          <p:cNvSpPr/>
          <p:nvPr/>
        </p:nvSpPr>
        <p:spPr>
          <a:xfrm>
            <a:off x="3931920" y="201168"/>
            <a:ext cx="4663440" cy="320040"/>
          </a:xfrm>
          <a:prstGeom prst="rect">
            <a:avLst/>
          </a:prstGeom>
          <a:noFill/>
          <a:ln/>
        </p:spPr>
        <p:txBody>
          <a:bodyPr wrap="square" lIns="0" tIns="0" rIns="0" bIns="0" rtlCol="0" anchor="ctr"/>
          <a:lstStyle/>
          <a:p>
            <a:pPr marL="0" indent="0" algn="r">
              <a:buNone/>
            </a:pPr>
            <a:r>
              <a:rPr lang="en-US" sz="1400" b="1" dirty="0">
                <a:solidFill>
                  <a:srgbClr val="1D3FAE"/>
                </a:solidFill>
                <a:latin typeface="Arial" pitchFamily="34" charset="0"/>
                <a:ea typeface="Arial" pitchFamily="34" charset="-122"/>
                <a:cs typeface="Arial" pitchFamily="34" charset="-120"/>
              </a:rPr>
              <a:t>ELECTRICAL ENGINEERING | ELE</a:t>
            </a:r>
            <a:endParaRPr lang="en-US" sz="1400" dirty="0"/>
          </a:p>
        </p:txBody>
      </p:sp>
      <p:sp>
        <p:nvSpPr>
          <p:cNvPr id="10" name="Shape 8"/>
          <p:cNvSpPr/>
          <p:nvPr/>
        </p:nvSpPr>
        <p:spPr>
          <a:xfrm>
            <a:off x="6967728" y="566928"/>
            <a:ext cx="1645920" cy="402336"/>
          </a:xfrm>
          <a:prstGeom prst="roundRect">
            <a:avLst>
              <a:gd name="adj" fmla="val 50000"/>
            </a:avLst>
          </a:prstGeom>
          <a:solidFill>
            <a:srgbClr val="1D3FAE"/>
          </a:solidFill>
          <a:ln/>
        </p:spPr>
        <p:txBody>
          <a:bodyPr/>
          <a:lstStyle/>
          <a:p>
            <a:endParaRPr lang="en-GB" dirty="0"/>
          </a:p>
        </p:txBody>
      </p:sp>
      <p:sp>
        <p:nvSpPr>
          <p:cNvPr id="11" name="Text 9"/>
          <p:cNvSpPr/>
          <p:nvPr/>
        </p:nvSpPr>
        <p:spPr>
          <a:xfrm>
            <a:off x="6967728" y="566928"/>
            <a:ext cx="16459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Slide X</a:t>
            </a:r>
            <a:endParaRPr lang="en-US" sz="1400" dirty="0"/>
          </a:p>
        </p:txBody>
      </p:sp>
      <p:sp>
        <p:nvSpPr>
          <p:cNvPr id="12" name="Shape 10"/>
          <p:cNvSpPr/>
          <p:nvPr/>
        </p:nvSpPr>
        <p:spPr>
          <a:xfrm>
            <a:off x="6263640" y="1389888"/>
            <a:ext cx="100584" cy="100584"/>
          </a:xfrm>
          <a:prstGeom prst="ellipse">
            <a:avLst/>
          </a:prstGeom>
          <a:solidFill>
            <a:srgbClr val="1D3FAE"/>
          </a:solidFill>
          <a:ln/>
        </p:spPr>
        <p:txBody>
          <a:bodyPr/>
          <a:lstStyle/>
          <a:p>
            <a:endParaRPr lang="en-GB"/>
          </a:p>
        </p:txBody>
      </p:sp>
      <p:sp>
        <p:nvSpPr>
          <p:cNvPr id="13" name="Shape 11"/>
          <p:cNvSpPr/>
          <p:nvPr/>
        </p:nvSpPr>
        <p:spPr>
          <a:xfrm>
            <a:off x="6464808" y="1389888"/>
            <a:ext cx="100584" cy="100584"/>
          </a:xfrm>
          <a:prstGeom prst="ellipse">
            <a:avLst/>
          </a:prstGeom>
          <a:solidFill>
            <a:srgbClr val="1D3FAE"/>
          </a:solidFill>
          <a:ln/>
        </p:spPr>
        <p:txBody>
          <a:bodyPr/>
          <a:lstStyle/>
          <a:p>
            <a:endParaRPr lang="en-GB"/>
          </a:p>
        </p:txBody>
      </p:sp>
      <p:sp>
        <p:nvSpPr>
          <p:cNvPr id="14" name="Shape 12"/>
          <p:cNvSpPr/>
          <p:nvPr/>
        </p:nvSpPr>
        <p:spPr>
          <a:xfrm>
            <a:off x="6665976" y="1389888"/>
            <a:ext cx="100584" cy="100584"/>
          </a:xfrm>
          <a:prstGeom prst="ellipse">
            <a:avLst/>
          </a:prstGeom>
          <a:solidFill>
            <a:srgbClr val="1D3FAE"/>
          </a:solidFill>
          <a:ln/>
        </p:spPr>
        <p:txBody>
          <a:bodyPr/>
          <a:lstStyle/>
          <a:p>
            <a:endParaRPr lang="en-GB"/>
          </a:p>
        </p:txBody>
      </p:sp>
      <p:sp>
        <p:nvSpPr>
          <p:cNvPr id="15" name="Shape 13"/>
          <p:cNvSpPr/>
          <p:nvPr/>
        </p:nvSpPr>
        <p:spPr>
          <a:xfrm>
            <a:off x="6867144" y="1389888"/>
            <a:ext cx="100584" cy="100584"/>
          </a:xfrm>
          <a:prstGeom prst="ellipse">
            <a:avLst/>
          </a:prstGeom>
          <a:solidFill>
            <a:srgbClr val="1D3FAE"/>
          </a:solidFill>
          <a:ln/>
        </p:spPr>
        <p:txBody>
          <a:bodyPr/>
          <a:lstStyle/>
          <a:p>
            <a:endParaRPr lang="en-GB"/>
          </a:p>
        </p:txBody>
      </p:sp>
      <p:sp>
        <p:nvSpPr>
          <p:cNvPr id="16" name="Text 14"/>
          <p:cNvSpPr/>
          <p:nvPr/>
        </p:nvSpPr>
        <p:spPr>
          <a:xfrm>
            <a:off x="457200" y="1627632"/>
            <a:ext cx="8229600" cy="1371600"/>
          </a:xfrm>
          <a:prstGeom prst="rect">
            <a:avLst/>
          </a:prstGeom>
          <a:noFill/>
          <a:ln/>
        </p:spPr>
        <p:txBody>
          <a:bodyPr wrap="square" lIns="0" tIns="0" rIns="0" bIns="0" rtlCol="0" anchor="ctr"/>
          <a:lstStyle/>
          <a:p>
            <a:pPr marL="0" indent="0" algn="ctr">
              <a:lnSpc>
                <a:spcPct val="102000"/>
              </a:lnSpc>
              <a:buNone/>
            </a:pPr>
            <a:r>
              <a:rPr lang="en-US" sz="3400" b="1" kern="0" spc="100" dirty="0">
                <a:solidFill>
                  <a:srgbClr val="1D3FAE"/>
                </a:solidFill>
                <a:latin typeface="Arial" pitchFamily="34" charset="0"/>
                <a:ea typeface="Arial" pitchFamily="34" charset="-122"/>
                <a:cs typeface="Arial" pitchFamily="34" charset="-120"/>
              </a:rPr>
              <a:t>HARDWARE IMPLEMENTATION</a:t>
            </a:r>
            <a:endParaRPr lang="en-US" sz="3400" dirty="0"/>
          </a:p>
          <a:p>
            <a:pPr marL="0" indent="0" algn="ctr">
              <a:lnSpc>
                <a:spcPct val="102000"/>
              </a:lnSpc>
              <a:buNone/>
            </a:pPr>
            <a:r>
              <a:rPr lang="en-US" sz="3400" b="1" kern="0" spc="100" dirty="0">
                <a:solidFill>
                  <a:srgbClr val="1D3FAE"/>
                </a:solidFill>
                <a:latin typeface="Arial" pitchFamily="34" charset="0"/>
                <a:ea typeface="Arial" pitchFamily="34" charset="-122"/>
                <a:cs typeface="Arial" pitchFamily="34" charset="-120"/>
              </a:rPr>
              <a:t>&amp; TROUBLESHOOTING</a:t>
            </a:r>
            <a:endParaRPr lang="en-US" sz="3400" dirty="0"/>
          </a:p>
        </p:txBody>
      </p:sp>
      <p:sp>
        <p:nvSpPr>
          <p:cNvPr id="17" name="Text 15"/>
          <p:cNvSpPr/>
          <p:nvPr/>
        </p:nvSpPr>
        <p:spPr>
          <a:xfrm>
            <a:off x="1170432" y="3086100"/>
            <a:ext cx="4114800" cy="41148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Presented by ;</a:t>
            </a:r>
            <a:endParaRPr lang="en-US" sz="1900" dirty="0"/>
          </a:p>
        </p:txBody>
      </p:sp>
      <p:sp>
        <p:nvSpPr>
          <p:cNvPr id="18" name="Text 16"/>
          <p:cNvSpPr/>
          <p:nvPr/>
        </p:nvSpPr>
        <p:spPr>
          <a:xfrm>
            <a:off x="1280160" y="3429124"/>
            <a:ext cx="3291840" cy="420624"/>
          </a:xfrm>
          <a:prstGeom prst="rect">
            <a:avLst/>
          </a:prstGeom>
          <a:noFill/>
          <a:ln/>
        </p:spPr>
        <p:txBody>
          <a:bodyPr wrap="square" lIns="0" tIns="0" rIns="0" bIns="0" rtlCol="0" anchor="ctr"/>
          <a:lstStyle/>
          <a:p>
            <a:pPr>
              <a:spcAft>
                <a:spcPts val="400"/>
              </a:spcAft>
              <a:buSzPct val="100000"/>
            </a:pPr>
            <a:r>
              <a:rPr lang="en-US" sz="1300" b="1" dirty="0">
                <a:solidFill>
                  <a:srgbClr val="111111"/>
                </a:solidFill>
                <a:latin typeface="Arial" pitchFamily="34" charset="0"/>
                <a:ea typeface="Arial" pitchFamily="34" charset="-122"/>
                <a:cs typeface="Arial" pitchFamily="34" charset="-120"/>
              </a:rPr>
              <a:t>Abdelmalek Ibrahim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955280" y="3931920"/>
            <a:ext cx="2651760" cy="2651760"/>
          </a:xfrm>
          <a:prstGeom prst="ellipse">
            <a:avLst/>
          </a:prstGeom>
          <a:solidFill>
            <a:srgbClr val="F6A83B"/>
          </a:solidFill>
          <a:ln/>
        </p:spPr>
        <p:txBody>
          <a:bodyPr/>
          <a:lstStyle/>
          <a:p>
            <a:endParaRPr lang="en-GB"/>
          </a:p>
        </p:txBody>
      </p:sp>
      <p:sp>
        <p:nvSpPr>
          <p:cNvPr id="3" name="Shape 1"/>
          <p:cNvSpPr/>
          <p:nvPr/>
        </p:nvSpPr>
        <p:spPr>
          <a:xfrm>
            <a:off x="8266176" y="4242816"/>
            <a:ext cx="2029968" cy="2029968"/>
          </a:xfrm>
          <a:prstGeom prst="ellipse">
            <a:avLst/>
          </a:prstGeom>
          <a:solidFill>
            <a:srgbClr val="FFFFFF"/>
          </a:solidFill>
          <a:ln/>
        </p:spPr>
        <p:txBody>
          <a:bodyPr/>
          <a:lstStyle/>
          <a:p>
            <a:endParaRPr lang="en-GB"/>
          </a:p>
        </p:txBody>
      </p:sp>
      <p:sp>
        <p:nvSpPr>
          <p:cNvPr id="4" name="Shape 2"/>
          <p:cNvSpPr/>
          <p:nvPr/>
        </p:nvSpPr>
        <p:spPr>
          <a:xfrm>
            <a:off x="-685800" y="-777240"/>
            <a:ext cx="1554480" cy="1554480"/>
          </a:xfrm>
          <a:prstGeom prst="ellipse">
            <a:avLst/>
          </a:prstGeom>
          <a:solidFill>
            <a:srgbClr val="E8EEF6"/>
          </a:solidFill>
          <a:ln/>
        </p:spPr>
        <p:txBody>
          <a:bodyPr/>
          <a:lstStyle/>
          <a:p>
            <a:endParaRPr lang="en-GB"/>
          </a:p>
        </p:txBody>
      </p:sp>
      <p:sp>
        <p:nvSpPr>
          <p:cNvPr id="5" name="Text 3"/>
          <p:cNvSpPr/>
          <p:nvPr/>
        </p:nvSpPr>
        <p:spPr>
          <a:xfrm>
            <a:off x="3931920" y="201168"/>
            <a:ext cx="4663440" cy="320040"/>
          </a:xfrm>
          <a:prstGeom prst="rect">
            <a:avLst/>
          </a:prstGeom>
          <a:noFill/>
          <a:ln/>
        </p:spPr>
        <p:txBody>
          <a:bodyPr wrap="square" lIns="0" tIns="0" rIns="0" bIns="0" rtlCol="0" anchor="ctr"/>
          <a:lstStyle/>
          <a:p>
            <a:pPr marL="0" indent="0" algn="r">
              <a:buNone/>
            </a:pPr>
            <a:r>
              <a:rPr lang="en-US" sz="1400" b="1" dirty="0">
                <a:solidFill>
                  <a:srgbClr val="1D3FAE"/>
                </a:solidFill>
                <a:latin typeface="Arial" pitchFamily="34" charset="0"/>
                <a:ea typeface="Arial" pitchFamily="34" charset="-122"/>
                <a:cs typeface="Arial" pitchFamily="34" charset="-120"/>
              </a:rPr>
              <a:t>ELECTRICAL ENGINEERING | ELE</a:t>
            </a:r>
            <a:endParaRPr lang="en-US" sz="1400" dirty="0"/>
          </a:p>
        </p:txBody>
      </p:sp>
      <p:sp>
        <p:nvSpPr>
          <p:cNvPr id="6" name="Shape 4"/>
          <p:cNvSpPr/>
          <p:nvPr/>
        </p:nvSpPr>
        <p:spPr>
          <a:xfrm>
            <a:off x="6967728" y="566928"/>
            <a:ext cx="1645920" cy="402336"/>
          </a:xfrm>
          <a:prstGeom prst="roundRect">
            <a:avLst>
              <a:gd name="adj" fmla="val 50000"/>
            </a:avLst>
          </a:prstGeom>
          <a:solidFill>
            <a:srgbClr val="1D3FAE"/>
          </a:solidFill>
          <a:ln/>
        </p:spPr>
        <p:txBody>
          <a:bodyPr/>
          <a:lstStyle/>
          <a:p>
            <a:endParaRPr lang="en-GB" dirty="0"/>
          </a:p>
        </p:txBody>
      </p:sp>
      <p:sp>
        <p:nvSpPr>
          <p:cNvPr id="7" name="Text 5"/>
          <p:cNvSpPr/>
          <p:nvPr/>
        </p:nvSpPr>
        <p:spPr>
          <a:xfrm>
            <a:off x="6967728" y="566928"/>
            <a:ext cx="16459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Slide X</a:t>
            </a:r>
            <a:endParaRPr lang="en-US" sz="1400" dirty="0"/>
          </a:p>
        </p:txBody>
      </p:sp>
      <p:sp>
        <p:nvSpPr>
          <p:cNvPr id="8" name="Text 6"/>
          <p:cNvSpPr/>
          <p:nvPr/>
        </p:nvSpPr>
        <p:spPr>
          <a:xfrm>
            <a:off x="548640" y="868680"/>
            <a:ext cx="7955280" cy="685800"/>
          </a:xfrm>
          <a:prstGeom prst="rect">
            <a:avLst/>
          </a:prstGeom>
          <a:noFill/>
          <a:ln/>
        </p:spPr>
        <p:txBody>
          <a:bodyPr wrap="square" lIns="0" tIns="0" rIns="0" bIns="0" rtlCol="0" anchor="ctr"/>
          <a:lstStyle/>
          <a:p>
            <a:pPr marL="0" indent="0">
              <a:buNone/>
            </a:pPr>
            <a:r>
              <a:rPr lang="en-US" sz="2700" b="1" dirty="0">
                <a:solidFill>
                  <a:srgbClr val="1D3FAE"/>
                </a:solidFill>
                <a:latin typeface="Arial" pitchFamily="34" charset="0"/>
                <a:ea typeface="Arial" pitchFamily="34" charset="-122"/>
                <a:cs typeface="Arial" pitchFamily="34" charset="-120"/>
              </a:rPr>
              <a:t>WHY HARDWARE COMES FIRST</a:t>
            </a:r>
            <a:endParaRPr lang="en-US" sz="2700" dirty="0"/>
          </a:p>
        </p:txBody>
      </p:sp>
      <p:sp>
        <p:nvSpPr>
          <p:cNvPr id="9" name="Shape 7"/>
          <p:cNvSpPr/>
          <p:nvPr/>
        </p:nvSpPr>
        <p:spPr>
          <a:xfrm>
            <a:off x="566928" y="1572768"/>
            <a:ext cx="100584" cy="100584"/>
          </a:xfrm>
          <a:prstGeom prst="ellipse">
            <a:avLst/>
          </a:prstGeom>
          <a:solidFill>
            <a:srgbClr val="1D3FAE"/>
          </a:solidFill>
          <a:ln/>
        </p:spPr>
        <p:txBody>
          <a:bodyPr/>
          <a:lstStyle/>
          <a:p>
            <a:endParaRPr lang="en-GB"/>
          </a:p>
        </p:txBody>
      </p:sp>
      <p:sp>
        <p:nvSpPr>
          <p:cNvPr id="10" name="Shape 8"/>
          <p:cNvSpPr/>
          <p:nvPr/>
        </p:nvSpPr>
        <p:spPr>
          <a:xfrm>
            <a:off x="768096" y="1572768"/>
            <a:ext cx="100584" cy="100584"/>
          </a:xfrm>
          <a:prstGeom prst="ellipse">
            <a:avLst/>
          </a:prstGeom>
          <a:solidFill>
            <a:srgbClr val="1D3FAE"/>
          </a:solidFill>
          <a:ln/>
        </p:spPr>
        <p:txBody>
          <a:bodyPr/>
          <a:lstStyle/>
          <a:p>
            <a:endParaRPr lang="en-GB"/>
          </a:p>
        </p:txBody>
      </p:sp>
      <p:sp>
        <p:nvSpPr>
          <p:cNvPr id="11" name="Shape 9"/>
          <p:cNvSpPr/>
          <p:nvPr/>
        </p:nvSpPr>
        <p:spPr>
          <a:xfrm>
            <a:off x="969264" y="1572768"/>
            <a:ext cx="100584" cy="100584"/>
          </a:xfrm>
          <a:prstGeom prst="ellipse">
            <a:avLst/>
          </a:prstGeom>
          <a:solidFill>
            <a:srgbClr val="1D3FAE"/>
          </a:solidFill>
          <a:ln/>
        </p:spPr>
        <p:txBody>
          <a:bodyPr/>
          <a:lstStyle/>
          <a:p>
            <a:endParaRPr lang="en-GB"/>
          </a:p>
        </p:txBody>
      </p:sp>
      <p:sp>
        <p:nvSpPr>
          <p:cNvPr id="12" name="Shape 10"/>
          <p:cNvSpPr/>
          <p:nvPr/>
        </p:nvSpPr>
        <p:spPr>
          <a:xfrm>
            <a:off x="1170432" y="1572768"/>
            <a:ext cx="100584" cy="100584"/>
          </a:xfrm>
          <a:prstGeom prst="ellipse">
            <a:avLst/>
          </a:prstGeom>
          <a:solidFill>
            <a:srgbClr val="1D3FAE"/>
          </a:solidFill>
          <a:ln/>
        </p:spPr>
        <p:txBody>
          <a:bodyPr/>
          <a:lstStyle/>
          <a:p>
            <a:endParaRPr lang="en-GB"/>
          </a:p>
        </p:txBody>
      </p:sp>
      <p:sp>
        <p:nvSpPr>
          <p:cNvPr id="13" name="Shape 11"/>
          <p:cNvSpPr/>
          <p:nvPr/>
        </p:nvSpPr>
        <p:spPr>
          <a:xfrm>
            <a:off x="594360" y="1911096"/>
            <a:ext cx="512064" cy="512064"/>
          </a:xfrm>
          <a:prstGeom prst="ellipse">
            <a:avLst/>
          </a:prstGeom>
          <a:solidFill>
            <a:srgbClr val="F6A83B"/>
          </a:solidFill>
          <a:ln/>
        </p:spPr>
        <p:txBody>
          <a:bodyPr/>
          <a:lstStyle/>
          <a:p>
            <a:endParaRPr lang="en-GB"/>
          </a:p>
        </p:txBody>
      </p:sp>
      <p:sp>
        <p:nvSpPr>
          <p:cNvPr id="14" name="Text 12"/>
          <p:cNvSpPr/>
          <p:nvPr/>
        </p:nvSpPr>
        <p:spPr>
          <a:xfrm>
            <a:off x="594360" y="191109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5" name="Text 13"/>
          <p:cNvSpPr/>
          <p:nvPr/>
        </p:nvSpPr>
        <p:spPr>
          <a:xfrm>
            <a:off x="1325880" y="1874520"/>
            <a:ext cx="6858000" cy="347472"/>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Wiring is the contract between code and reality</a:t>
            </a:r>
            <a:endParaRPr lang="en-US" sz="1600" dirty="0"/>
          </a:p>
        </p:txBody>
      </p:sp>
      <p:sp>
        <p:nvSpPr>
          <p:cNvPr id="16" name="Text 14"/>
          <p:cNvSpPr/>
          <p:nvPr/>
        </p:nvSpPr>
        <p:spPr>
          <a:xfrm>
            <a:off x="1325880" y="2221992"/>
            <a:ext cx="6583680" cy="566928"/>
          </a:xfrm>
          <a:prstGeom prst="rect">
            <a:avLst/>
          </a:prstGeom>
          <a:noFill/>
          <a:ln/>
        </p:spPr>
        <p:txBody>
          <a:bodyPr wrap="square" lIns="0" tIns="0" rIns="0" bIns="0" rtlCol="0" anchor="ctr"/>
          <a:lstStyle/>
          <a:p>
            <a:pPr marL="0" indent="0">
              <a:buNone/>
            </a:pPr>
            <a:r>
              <a:rPr lang="en-US" sz="1200" dirty="0">
                <a:solidFill>
                  <a:srgbClr val="444B57"/>
                </a:solidFill>
                <a:latin typeface="Arial" pitchFamily="34" charset="0"/>
                <a:ea typeface="Arial" pitchFamily="34" charset="-122"/>
                <a:cs typeface="Arial" pitchFamily="34" charset="-120"/>
              </a:rPr>
              <a:t>Every pin was deliberate — PWM on D5/D10, direction on D6–D9, IR on D2/D3, ultrasonics on D12/D11 and A0/A1. One swapped wire and the “bug” lives outside the code.</a:t>
            </a:r>
            <a:endParaRPr lang="en-US" sz="1200" dirty="0"/>
          </a:p>
        </p:txBody>
      </p:sp>
      <p:sp>
        <p:nvSpPr>
          <p:cNvPr id="17" name="Shape 15"/>
          <p:cNvSpPr/>
          <p:nvPr/>
        </p:nvSpPr>
        <p:spPr>
          <a:xfrm>
            <a:off x="594360" y="2935224"/>
            <a:ext cx="512064" cy="512064"/>
          </a:xfrm>
          <a:prstGeom prst="ellipse">
            <a:avLst/>
          </a:prstGeom>
          <a:solidFill>
            <a:srgbClr val="F6A83B"/>
          </a:solidFill>
          <a:ln/>
        </p:spPr>
        <p:txBody>
          <a:bodyPr/>
          <a:lstStyle/>
          <a:p>
            <a:endParaRPr lang="en-GB"/>
          </a:p>
        </p:txBody>
      </p:sp>
      <p:sp>
        <p:nvSpPr>
          <p:cNvPr id="18" name="Text 16"/>
          <p:cNvSpPr/>
          <p:nvPr/>
        </p:nvSpPr>
        <p:spPr>
          <a:xfrm>
            <a:off x="594360" y="293522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9" name="Text 17"/>
          <p:cNvSpPr/>
          <p:nvPr/>
        </p:nvSpPr>
        <p:spPr>
          <a:xfrm>
            <a:off x="1325880" y="2898648"/>
            <a:ext cx="6858000" cy="347472"/>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Sensor position defines what the robot can know</a:t>
            </a:r>
            <a:endParaRPr lang="en-US" sz="1600" dirty="0"/>
          </a:p>
        </p:txBody>
      </p:sp>
      <p:sp>
        <p:nvSpPr>
          <p:cNvPr id="20" name="Text 18"/>
          <p:cNvSpPr/>
          <p:nvPr/>
        </p:nvSpPr>
        <p:spPr>
          <a:xfrm>
            <a:off x="1325880" y="3246120"/>
            <a:ext cx="6583680" cy="566928"/>
          </a:xfrm>
          <a:prstGeom prst="rect">
            <a:avLst/>
          </a:prstGeom>
          <a:noFill/>
          <a:ln/>
        </p:spPr>
        <p:txBody>
          <a:bodyPr wrap="square" lIns="0" tIns="0" rIns="0" bIns="0" rtlCol="0" anchor="ctr"/>
          <a:lstStyle/>
          <a:p>
            <a:pPr marL="0" indent="0">
              <a:buNone/>
            </a:pPr>
            <a:r>
              <a:rPr lang="en-US" sz="1200" dirty="0">
                <a:solidFill>
                  <a:srgbClr val="444B57"/>
                </a:solidFill>
                <a:latin typeface="Arial" pitchFamily="34" charset="0"/>
                <a:ea typeface="Arial" pitchFamily="34" charset="-122"/>
                <a:cs typeface="Arial" pitchFamily="34" charset="-120"/>
              </a:rPr>
              <a:t>Software only reacts to what the sensors see. Where the IR sensors sit — their spacing and height over the floor — sets the robot’s behaviour before a single line of code runs.</a:t>
            </a:r>
            <a:endParaRPr lang="en-US" sz="1200" dirty="0"/>
          </a:p>
        </p:txBody>
      </p:sp>
      <p:sp>
        <p:nvSpPr>
          <p:cNvPr id="21" name="Shape 19"/>
          <p:cNvSpPr/>
          <p:nvPr/>
        </p:nvSpPr>
        <p:spPr>
          <a:xfrm>
            <a:off x="594360" y="3959352"/>
            <a:ext cx="512064" cy="512064"/>
          </a:xfrm>
          <a:prstGeom prst="ellipse">
            <a:avLst/>
          </a:prstGeom>
          <a:solidFill>
            <a:srgbClr val="F6A83B"/>
          </a:solidFill>
          <a:ln/>
        </p:spPr>
        <p:txBody>
          <a:bodyPr/>
          <a:lstStyle/>
          <a:p>
            <a:endParaRPr lang="en-GB"/>
          </a:p>
        </p:txBody>
      </p:sp>
      <p:sp>
        <p:nvSpPr>
          <p:cNvPr id="22" name="Text 20"/>
          <p:cNvSpPr/>
          <p:nvPr/>
        </p:nvSpPr>
        <p:spPr>
          <a:xfrm>
            <a:off x="594360" y="395935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3" name="Text 21"/>
          <p:cNvSpPr/>
          <p:nvPr/>
        </p:nvSpPr>
        <p:spPr>
          <a:xfrm>
            <a:off x="1325880" y="3922776"/>
            <a:ext cx="6858000" cy="347472"/>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Small physical details decide if it moves at all</a:t>
            </a:r>
            <a:endParaRPr lang="en-US" sz="1600" dirty="0"/>
          </a:p>
        </p:txBody>
      </p:sp>
      <p:sp>
        <p:nvSpPr>
          <p:cNvPr id="24" name="Text 22"/>
          <p:cNvSpPr/>
          <p:nvPr/>
        </p:nvSpPr>
        <p:spPr>
          <a:xfrm>
            <a:off x="1325880" y="4270248"/>
            <a:ext cx="6583680" cy="566928"/>
          </a:xfrm>
          <a:prstGeom prst="rect">
            <a:avLst/>
          </a:prstGeom>
          <a:noFill/>
          <a:ln/>
        </p:spPr>
        <p:txBody>
          <a:bodyPr wrap="square" lIns="0" tIns="0" rIns="0" bIns="0" rtlCol="0" anchor="ctr"/>
          <a:lstStyle/>
          <a:p>
            <a:pPr marL="0" indent="0">
              <a:buNone/>
            </a:pPr>
            <a:r>
              <a:rPr lang="en-US" sz="1200" dirty="0">
                <a:solidFill>
                  <a:srgbClr val="444B57"/>
                </a:solidFill>
                <a:latin typeface="Arial" pitchFamily="34" charset="0"/>
                <a:ea typeface="Arial" pitchFamily="34" charset="-122"/>
                <a:cs typeface="Arial" pitchFamily="34" charset="-120"/>
              </a:rPr>
              <a:t>Removing the L298N jumpers enabled speed control; the sensitivity potentiometer decides whether the line is even detected. Millimetres and quarter-turns matter.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3977640"/>
            <a:ext cx="1645920" cy="1645920"/>
          </a:xfrm>
          <a:prstGeom prst="ellipse">
            <a:avLst/>
          </a:prstGeom>
          <a:solidFill>
            <a:srgbClr val="E8EEF6"/>
          </a:solidFill>
          <a:ln/>
        </p:spPr>
        <p:txBody>
          <a:bodyPr/>
          <a:lstStyle/>
          <a:p>
            <a:endParaRPr lang="en-GB"/>
          </a:p>
        </p:txBody>
      </p:sp>
      <p:sp>
        <p:nvSpPr>
          <p:cNvPr id="3" name="Text 1"/>
          <p:cNvSpPr/>
          <p:nvPr/>
        </p:nvSpPr>
        <p:spPr>
          <a:xfrm>
            <a:off x="3931920" y="201168"/>
            <a:ext cx="4663440" cy="320040"/>
          </a:xfrm>
          <a:prstGeom prst="rect">
            <a:avLst/>
          </a:prstGeom>
          <a:noFill/>
          <a:ln/>
        </p:spPr>
        <p:txBody>
          <a:bodyPr wrap="square" lIns="0" tIns="0" rIns="0" bIns="0" rtlCol="0" anchor="ctr"/>
          <a:lstStyle/>
          <a:p>
            <a:pPr marL="0" indent="0" algn="r">
              <a:buNone/>
            </a:pPr>
            <a:r>
              <a:rPr lang="en-US" sz="1400" b="1" dirty="0">
                <a:solidFill>
                  <a:srgbClr val="1D3FAE"/>
                </a:solidFill>
                <a:latin typeface="Arial" pitchFamily="34" charset="0"/>
                <a:ea typeface="Arial" pitchFamily="34" charset="-122"/>
                <a:cs typeface="Arial" pitchFamily="34" charset="-120"/>
              </a:rPr>
              <a:t>ELECTRICAL ENGINEERING | ELE</a:t>
            </a:r>
            <a:endParaRPr lang="en-US" sz="1400" dirty="0"/>
          </a:p>
        </p:txBody>
      </p:sp>
      <p:sp>
        <p:nvSpPr>
          <p:cNvPr id="4" name="Shape 2"/>
          <p:cNvSpPr/>
          <p:nvPr/>
        </p:nvSpPr>
        <p:spPr>
          <a:xfrm>
            <a:off x="6967728" y="566928"/>
            <a:ext cx="1645920" cy="402336"/>
          </a:xfrm>
          <a:prstGeom prst="roundRect">
            <a:avLst>
              <a:gd name="adj" fmla="val 50000"/>
            </a:avLst>
          </a:prstGeom>
          <a:solidFill>
            <a:srgbClr val="1D3FAE"/>
          </a:solidFill>
          <a:ln/>
        </p:spPr>
        <p:txBody>
          <a:bodyPr/>
          <a:lstStyle/>
          <a:p>
            <a:endParaRPr lang="en-GB"/>
          </a:p>
        </p:txBody>
      </p:sp>
      <p:sp>
        <p:nvSpPr>
          <p:cNvPr id="5" name="Text 3"/>
          <p:cNvSpPr/>
          <p:nvPr/>
        </p:nvSpPr>
        <p:spPr>
          <a:xfrm>
            <a:off x="6967728" y="566928"/>
            <a:ext cx="16459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Slide X</a:t>
            </a:r>
            <a:endParaRPr lang="en-US" sz="1400" dirty="0"/>
          </a:p>
        </p:txBody>
      </p:sp>
      <p:sp>
        <p:nvSpPr>
          <p:cNvPr id="6" name="Text 4"/>
          <p:cNvSpPr/>
          <p:nvPr/>
        </p:nvSpPr>
        <p:spPr>
          <a:xfrm>
            <a:off x="548640" y="868680"/>
            <a:ext cx="7955280" cy="685800"/>
          </a:xfrm>
          <a:prstGeom prst="rect">
            <a:avLst/>
          </a:prstGeom>
          <a:noFill/>
          <a:ln/>
        </p:spPr>
        <p:txBody>
          <a:bodyPr wrap="square" lIns="0" tIns="0" rIns="0" bIns="0" rtlCol="0" anchor="ctr"/>
          <a:lstStyle/>
          <a:p>
            <a:pPr marL="0" indent="0">
              <a:buNone/>
            </a:pPr>
            <a:r>
              <a:rPr lang="en-US" sz="2700" b="1" dirty="0">
                <a:solidFill>
                  <a:srgbClr val="1D3FAE"/>
                </a:solidFill>
                <a:latin typeface="Arial" pitchFamily="34" charset="0"/>
                <a:ea typeface="Arial" pitchFamily="34" charset="-122"/>
                <a:cs typeface="Arial" pitchFamily="34" charset="-120"/>
              </a:rPr>
              <a:t>SENSOR PLACEMENT: FROM SLOW TO FAST</a:t>
            </a:r>
            <a:endParaRPr lang="en-US" sz="2700" dirty="0"/>
          </a:p>
        </p:txBody>
      </p:sp>
      <p:sp>
        <p:nvSpPr>
          <p:cNvPr id="7" name="Shape 5"/>
          <p:cNvSpPr/>
          <p:nvPr/>
        </p:nvSpPr>
        <p:spPr>
          <a:xfrm>
            <a:off x="566928" y="1572768"/>
            <a:ext cx="100584" cy="100584"/>
          </a:xfrm>
          <a:prstGeom prst="ellipse">
            <a:avLst/>
          </a:prstGeom>
          <a:solidFill>
            <a:srgbClr val="1D3FAE"/>
          </a:solidFill>
          <a:ln/>
        </p:spPr>
        <p:txBody>
          <a:bodyPr/>
          <a:lstStyle/>
          <a:p>
            <a:endParaRPr lang="en-GB"/>
          </a:p>
        </p:txBody>
      </p:sp>
      <p:sp>
        <p:nvSpPr>
          <p:cNvPr id="8" name="Shape 6"/>
          <p:cNvSpPr/>
          <p:nvPr/>
        </p:nvSpPr>
        <p:spPr>
          <a:xfrm>
            <a:off x="768096" y="1572768"/>
            <a:ext cx="100584" cy="100584"/>
          </a:xfrm>
          <a:prstGeom prst="ellipse">
            <a:avLst/>
          </a:prstGeom>
          <a:solidFill>
            <a:srgbClr val="1D3FAE"/>
          </a:solidFill>
          <a:ln/>
        </p:spPr>
        <p:txBody>
          <a:bodyPr/>
          <a:lstStyle/>
          <a:p>
            <a:endParaRPr lang="en-GB"/>
          </a:p>
        </p:txBody>
      </p:sp>
      <p:sp>
        <p:nvSpPr>
          <p:cNvPr id="9" name="Shape 7"/>
          <p:cNvSpPr/>
          <p:nvPr/>
        </p:nvSpPr>
        <p:spPr>
          <a:xfrm>
            <a:off x="969264" y="1572768"/>
            <a:ext cx="100584" cy="100584"/>
          </a:xfrm>
          <a:prstGeom prst="ellipse">
            <a:avLst/>
          </a:prstGeom>
          <a:solidFill>
            <a:srgbClr val="1D3FAE"/>
          </a:solidFill>
          <a:ln/>
        </p:spPr>
        <p:txBody>
          <a:bodyPr/>
          <a:lstStyle/>
          <a:p>
            <a:endParaRPr lang="en-GB"/>
          </a:p>
        </p:txBody>
      </p:sp>
      <p:sp>
        <p:nvSpPr>
          <p:cNvPr id="10" name="Shape 8"/>
          <p:cNvSpPr/>
          <p:nvPr/>
        </p:nvSpPr>
        <p:spPr>
          <a:xfrm>
            <a:off x="1170432" y="1572768"/>
            <a:ext cx="100584" cy="100584"/>
          </a:xfrm>
          <a:prstGeom prst="ellipse">
            <a:avLst/>
          </a:prstGeom>
          <a:solidFill>
            <a:srgbClr val="1D3FAE"/>
          </a:solidFill>
          <a:ln/>
        </p:spPr>
        <p:txBody>
          <a:bodyPr/>
          <a:lstStyle/>
          <a:p>
            <a:endParaRPr lang="en-GB"/>
          </a:p>
        </p:txBody>
      </p:sp>
      <p:sp>
        <p:nvSpPr>
          <p:cNvPr id="11" name="Shape 9"/>
          <p:cNvSpPr/>
          <p:nvPr/>
        </p:nvSpPr>
        <p:spPr>
          <a:xfrm>
            <a:off x="475488" y="1847088"/>
            <a:ext cx="6035040" cy="2284194"/>
          </a:xfrm>
          <a:prstGeom prst="roundRect">
            <a:avLst>
              <a:gd name="adj" fmla="val 2402"/>
            </a:avLst>
          </a:prstGeom>
          <a:solidFill>
            <a:srgbClr val="FFFFFF"/>
          </a:solidFill>
          <a:ln w="12700">
            <a:solidFill>
              <a:srgbClr val="D8E0EC"/>
            </a:solidFill>
            <a:prstDash val="solid"/>
          </a:ln>
          <a:effectLst>
            <a:outerShdw blurRad="88900" dist="38100" dir="5400000" algn="bl" rotWithShape="0">
              <a:srgbClr val="1A2A45">
                <a:alpha val="15000"/>
              </a:srgbClr>
            </a:outerShdw>
          </a:effectLst>
        </p:spPr>
        <p:txBody>
          <a:bodyPr/>
          <a:lstStyle/>
          <a:p>
            <a:endParaRPr lang="en-GB"/>
          </a:p>
        </p:txBody>
      </p:sp>
      <p:pic>
        <p:nvPicPr>
          <p:cNvPr id="12" name="Image 0" descr="/home/claude/deck2/assets/protofig.png"/>
          <p:cNvPicPr>
            <a:picLocks noChangeAspect="1"/>
          </p:cNvPicPr>
          <p:nvPr/>
        </p:nvPicPr>
        <p:blipFill>
          <a:blip r:embed="rId3"/>
          <a:stretch>
            <a:fillRect/>
          </a:stretch>
        </p:blipFill>
        <p:spPr>
          <a:xfrm>
            <a:off x="566928" y="1938528"/>
            <a:ext cx="5852160" cy="2101314"/>
          </a:xfrm>
          <a:prstGeom prst="rect">
            <a:avLst/>
          </a:prstGeom>
        </p:spPr>
      </p:pic>
      <p:sp>
        <p:nvSpPr>
          <p:cNvPr id="13" name="Text 10"/>
          <p:cNvSpPr/>
          <p:nvPr/>
        </p:nvSpPr>
        <p:spPr>
          <a:xfrm>
            <a:off x="6720840" y="1874520"/>
            <a:ext cx="2011680" cy="685800"/>
          </a:xfrm>
          <a:prstGeom prst="rect">
            <a:avLst/>
          </a:prstGeom>
          <a:noFill/>
          <a:ln/>
        </p:spPr>
        <p:txBody>
          <a:bodyPr wrap="square" lIns="0" tIns="0" rIns="0" bIns="0" rtlCol="0" anchor="ctr"/>
          <a:lstStyle/>
          <a:p>
            <a:pPr marL="0" indent="0">
              <a:buNone/>
            </a:pPr>
            <a:r>
              <a:rPr lang="en-US" sz="1350" b="1" dirty="0">
                <a:solidFill>
                  <a:srgbClr val="111111"/>
                </a:solidFill>
                <a:latin typeface="Arial" pitchFamily="34" charset="0"/>
                <a:ea typeface="Arial" pitchFamily="34" charset="-122"/>
                <a:cs typeface="Arial" pitchFamily="34" charset="-120"/>
              </a:rPr>
              <a:t>The first prototype worked — but it was slow.</a:t>
            </a:r>
            <a:endParaRPr lang="en-US" sz="1350" dirty="0"/>
          </a:p>
        </p:txBody>
      </p:sp>
      <p:sp>
        <p:nvSpPr>
          <p:cNvPr id="14" name="Text 11"/>
          <p:cNvSpPr/>
          <p:nvPr/>
        </p:nvSpPr>
        <p:spPr>
          <a:xfrm>
            <a:off x="6720840" y="2560320"/>
            <a:ext cx="2011680" cy="1005840"/>
          </a:xfrm>
          <a:prstGeom prst="rect">
            <a:avLst/>
          </a:prstGeom>
          <a:noFill/>
          <a:ln/>
        </p:spPr>
        <p:txBody>
          <a:bodyPr wrap="square" lIns="0" tIns="0" rIns="0" bIns="0" rtlCol="0" anchor="ctr"/>
          <a:lstStyle/>
          <a:p>
            <a:pPr marL="0" indent="0">
              <a:buNone/>
            </a:pPr>
            <a:r>
              <a:rPr lang="en-US" sz="1150" dirty="0">
                <a:solidFill>
                  <a:srgbClr val="444B57"/>
                </a:solidFill>
                <a:latin typeface="Arial" pitchFamily="34" charset="0"/>
                <a:ea typeface="Arial" pitchFamily="34" charset="-122"/>
                <a:cs typeface="Arial" pitchFamily="34" charset="-120"/>
              </a:rPr>
              <a:t>With the IR sensors close together, the robot saw the line edges constantly and corrected non-stop — it crawled along, wobbling.</a:t>
            </a:r>
            <a:endParaRPr lang="en-US" sz="1150" dirty="0"/>
          </a:p>
        </p:txBody>
      </p:sp>
      <p:sp>
        <p:nvSpPr>
          <p:cNvPr id="15" name="Text 12"/>
          <p:cNvSpPr/>
          <p:nvPr/>
        </p:nvSpPr>
        <p:spPr>
          <a:xfrm>
            <a:off x="6720840" y="3611880"/>
            <a:ext cx="2011680" cy="1234440"/>
          </a:xfrm>
          <a:prstGeom prst="rect">
            <a:avLst/>
          </a:prstGeom>
          <a:noFill/>
          <a:ln/>
        </p:spPr>
        <p:txBody>
          <a:bodyPr wrap="square" lIns="0" tIns="0" rIns="0" bIns="0" rtlCol="0" anchor="ctr"/>
          <a:lstStyle/>
          <a:p>
            <a:pPr marL="0" indent="0">
              <a:buNone/>
            </a:pPr>
            <a:r>
              <a:rPr lang="en-US" sz="1150" b="1" dirty="0">
                <a:solidFill>
                  <a:srgbClr val="111111"/>
                </a:solidFill>
                <a:latin typeface="Arial" pitchFamily="34" charset="0"/>
                <a:ea typeface="Arial" pitchFamily="34" charset="-122"/>
                <a:cs typeface="Arial" pitchFamily="34" charset="-120"/>
              </a:rPr>
              <a:t>The fix was physical: </a:t>
            </a:r>
            <a:r>
              <a:rPr lang="en-US" sz="1150" dirty="0">
                <a:solidFill>
                  <a:srgbClr val="444B57"/>
                </a:solidFill>
                <a:latin typeface="Arial" pitchFamily="34" charset="0"/>
                <a:ea typeface="Arial" pitchFamily="34" charset="-122"/>
                <a:cs typeface="Arial" pitchFamily="34" charset="-120"/>
              </a:rPr>
              <a:t>we increased the distance between the IR sensors — wider corridor, fewer corrections, and the car got noticeably faster.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737360" y="3840480"/>
            <a:ext cx="2926080" cy="2926080"/>
          </a:xfrm>
          <a:prstGeom prst="ellipse">
            <a:avLst/>
          </a:prstGeom>
          <a:solidFill>
            <a:srgbClr val="F6A83B"/>
          </a:solidFill>
          <a:ln/>
        </p:spPr>
        <p:txBody>
          <a:bodyPr/>
          <a:lstStyle/>
          <a:p>
            <a:endParaRPr lang="en-GB"/>
          </a:p>
        </p:txBody>
      </p:sp>
      <p:sp>
        <p:nvSpPr>
          <p:cNvPr id="3" name="Shape 1"/>
          <p:cNvSpPr/>
          <p:nvPr/>
        </p:nvSpPr>
        <p:spPr>
          <a:xfrm>
            <a:off x="-1408176" y="4169664"/>
            <a:ext cx="2267712" cy="2267712"/>
          </a:xfrm>
          <a:prstGeom prst="ellipse">
            <a:avLst/>
          </a:prstGeom>
          <a:solidFill>
            <a:srgbClr val="FFFFFF"/>
          </a:solidFill>
          <a:ln/>
        </p:spPr>
        <p:txBody>
          <a:bodyPr/>
          <a:lstStyle/>
          <a:p>
            <a:endParaRPr lang="en-GB"/>
          </a:p>
        </p:txBody>
      </p:sp>
      <p:sp>
        <p:nvSpPr>
          <p:cNvPr id="4" name="Text 2"/>
          <p:cNvSpPr/>
          <p:nvPr/>
        </p:nvSpPr>
        <p:spPr>
          <a:xfrm>
            <a:off x="3931920" y="201168"/>
            <a:ext cx="4663440" cy="320040"/>
          </a:xfrm>
          <a:prstGeom prst="rect">
            <a:avLst/>
          </a:prstGeom>
          <a:noFill/>
          <a:ln/>
        </p:spPr>
        <p:txBody>
          <a:bodyPr wrap="square" lIns="0" tIns="0" rIns="0" bIns="0" rtlCol="0" anchor="ctr"/>
          <a:lstStyle/>
          <a:p>
            <a:pPr marL="0" indent="0" algn="r">
              <a:buNone/>
            </a:pPr>
            <a:r>
              <a:rPr lang="en-US" sz="1400" b="1" dirty="0">
                <a:solidFill>
                  <a:srgbClr val="1D3FAE"/>
                </a:solidFill>
                <a:latin typeface="Arial" pitchFamily="34" charset="0"/>
                <a:ea typeface="Arial" pitchFamily="34" charset="-122"/>
                <a:cs typeface="Arial" pitchFamily="34" charset="-120"/>
              </a:rPr>
              <a:t>ELECTRICAL ENGINEERING | ELE</a:t>
            </a:r>
            <a:endParaRPr lang="en-US" sz="1400" dirty="0"/>
          </a:p>
        </p:txBody>
      </p:sp>
      <p:sp>
        <p:nvSpPr>
          <p:cNvPr id="5" name="Shape 3"/>
          <p:cNvSpPr/>
          <p:nvPr/>
        </p:nvSpPr>
        <p:spPr>
          <a:xfrm>
            <a:off x="6967728" y="566928"/>
            <a:ext cx="1645920" cy="402336"/>
          </a:xfrm>
          <a:prstGeom prst="roundRect">
            <a:avLst>
              <a:gd name="adj" fmla="val 50000"/>
            </a:avLst>
          </a:prstGeom>
          <a:solidFill>
            <a:srgbClr val="1D3FAE"/>
          </a:solidFill>
          <a:ln/>
        </p:spPr>
        <p:txBody>
          <a:bodyPr/>
          <a:lstStyle/>
          <a:p>
            <a:endParaRPr lang="en-GB" dirty="0"/>
          </a:p>
        </p:txBody>
      </p:sp>
      <p:sp>
        <p:nvSpPr>
          <p:cNvPr id="6" name="Text 4"/>
          <p:cNvSpPr/>
          <p:nvPr/>
        </p:nvSpPr>
        <p:spPr>
          <a:xfrm>
            <a:off x="6967728" y="566928"/>
            <a:ext cx="16459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Slide X</a:t>
            </a:r>
            <a:endParaRPr lang="en-US" sz="1400" dirty="0"/>
          </a:p>
        </p:txBody>
      </p:sp>
      <p:sp>
        <p:nvSpPr>
          <p:cNvPr id="7" name="Text 5"/>
          <p:cNvSpPr/>
          <p:nvPr/>
        </p:nvSpPr>
        <p:spPr>
          <a:xfrm>
            <a:off x="548640" y="868680"/>
            <a:ext cx="7955280" cy="685800"/>
          </a:xfrm>
          <a:prstGeom prst="rect">
            <a:avLst/>
          </a:prstGeom>
          <a:noFill/>
          <a:ln/>
        </p:spPr>
        <p:txBody>
          <a:bodyPr wrap="square" lIns="0" tIns="0" rIns="0" bIns="0" rtlCol="0" anchor="ctr"/>
          <a:lstStyle/>
          <a:p>
            <a:pPr marL="0" indent="0">
              <a:buNone/>
            </a:pPr>
            <a:r>
              <a:rPr lang="en-US" sz="2700" b="1" dirty="0">
                <a:solidFill>
                  <a:srgbClr val="1D3FAE"/>
                </a:solidFill>
                <a:latin typeface="Arial" pitchFamily="34" charset="0"/>
                <a:ea typeface="Arial" pitchFamily="34" charset="-122"/>
                <a:cs typeface="Arial" pitchFamily="34" charset="-120"/>
              </a:rPr>
              <a:t>TROUBLESHOOTING: </a:t>
            </a:r>
          </a:p>
          <a:p>
            <a:pPr marL="0" indent="0">
              <a:buNone/>
            </a:pPr>
            <a:r>
              <a:rPr lang="en-US" sz="2700" b="1" dirty="0">
                <a:solidFill>
                  <a:srgbClr val="1D3FAE"/>
                </a:solidFill>
                <a:latin typeface="Arial" pitchFamily="34" charset="0"/>
                <a:ea typeface="Arial" pitchFamily="34" charset="-122"/>
                <a:cs typeface="Arial" pitchFamily="34" charset="-120"/>
              </a:rPr>
              <a:t>THE POTENTIOMETER TRAP</a:t>
            </a:r>
            <a:endParaRPr lang="en-US" sz="2700" dirty="0"/>
          </a:p>
        </p:txBody>
      </p:sp>
      <p:sp>
        <p:nvSpPr>
          <p:cNvPr id="8" name="Shape 6"/>
          <p:cNvSpPr/>
          <p:nvPr/>
        </p:nvSpPr>
        <p:spPr>
          <a:xfrm>
            <a:off x="566928" y="1572768"/>
            <a:ext cx="100584" cy="100584"/>
          </a:xfrm>
          <a:prstGeom prst="ellipse">
            <a:avLst/>
          </a:prstGeom>
          <a:solidFill>
            <a:srgbClr val="1D3FAE"/>
          </a:solidFill>
          <a:ln/>
        </p:spPr>
        <p:txBody>
          <a:bodyPr/>
          <a:lstStyle/>
          <a:p>
            <a:endParaRPr lang="en-GB"/>
          </a:p>
        </p:txBody>
      </p:sp>
      <p:sp>
        <p:nvSpPr>
          <p:cNvPr id="9" name="Shape 7"/>
          <p:cNvSpPr/>
          <p:nvPr/>
        </p:nvSpPr>
        <p:spPr>
          <a:xfrm>
            <a:off x="768096" y="1572768"/>
            <a:ext cx="100584" cy="100584"/>
          </a:xfrm>
          <a:prstGeom prst="ellipse">
            <a:avLst/>
          </a:prstGeom>
          <a:solidFill>
            <a:srgbClr val="1D3FAE"/>
          </a:solidFill>
          <a:ln/>
        </p:spPr>
        <p:txBody>
          <a:bodyPr/>
          <a:lstStyle/>
          <a:p>
            <a:endParaRPr lang="en-GB"/>
          </a:p>
        </p:txBody>
      </p:sp>
      <p:sp>
        <p:nvSpPr>
          <p:cNvPr id="10" name="Shape 8"/>
          <p:cNvSpPr/>
          <p:nvPr/>
        </p:nvSpPr>
        <p:spPr>
          <a:xfrm>
            <a:off x="969264" y="1572768"/>
            <a:ext cx="100584" cy="100584"/>
          </a:xfrm>
          <a:prstGeom prst="ellipse">
            <a:avLst/>
          </a:prstGeom>
          <a:solidFill>
            <a:srgbClr val="1D3FAE"/>
          </a:solidFill>
          <a:ln/>
        </p:spPr>
        <p:txBody>
          <a:bodyPr/>
          <a:lstStyle/>
          <a:p>
            <a:endParaRPr lang="en-GB"/>
          </a:p>
        </p:txBody>
      </p:sp>
      <p:sp>
        <p:nvSpPr>
          <p:cNvPr id="11" name="Shape 9"/>
          <p:cNvSpPr/>
          <p:nvPr/>
        </p:nvSpPr>
        <p:spPr>
          <a:xfrm>
            <a:off x="1170432" y="1572768"/>
            <a:ext cx="100584" cy="100584"/>
          </a:xfrm>
          <a:prstGeom prst="ellipse">
            <a:avLst/>
          </a:prstGeom>
          <a:solidFill>
            <a:srgbClr val="1D3FAE"/>
          </a:solidFill>
          <a:ln/>
        </p:spPr>
        <p:txBody>
          <a:bodyPr/>
          <a:lstStyle/>
          <a:p>
            <a:endParaRPr lang="en-GB"/>
          </a:p>
        </p:txBody>
      </p:sp>
      <p:sp>
        <p:nvSpPr>
          <p:cNvPr id="12" name="Shape 10"/>
          <p:cNvSpPr/>
          <p:nvPr/>
        </p:nvSpPr>
        <p:spPr>
          <a:xfrm>
            <a:off x="566928" y="1965960"/>
            <a:ext cx="1874520" cy="2286000"/>
          </a:xfrm>
          <a:prstGeom prst="roundRect">
            <a:avLst>
              <a:gd name="adj" fmla="val 4390"/>
            </a:avLst>
          </a:prstGeom>
          <a:solidFill>
            <a:srgbClr val="E8EEF6"/>
          </a:solidFill>
          <a:ln/>
        </p:spPr>
        <p:txBody>
          <a:bodyPr/>
          <a:lstStyle/>
          <a:p>
            <a:endParaRPr lang="en-GB"/>
          </a:p>
        </p:txBody>
      </p:sp>
      <p:sp>
        <p:nvSpPr>
          <p:cNvPr id="13" name="Shape 11"/>
          <p:cNvSpPr/>
          <p:nvPr/>
        </p:nvSpPr>
        <p:spPr>
          <a:xfrm>
            <a:off x="749808" y="2148840"/>
            <a:ext cx="457200" cy="457200"/>
          </a:xfrm>
          <a:prstGeom prst="ellipse">
            <a:avLst/>
          </a:prstGeom>
          <a:solidFill>
            <a:srgbClr val="1D3FAE"/>
          </a:solidFill>
          <a:ln/>
        </p:spPr>
        <p:txBody>
          <a:bodyPr/>
          <a:lstStyle/>
          <a:p>
            <a:endParaRPr lang="en-GB"/>
          </a:p>
        </p:txBody>
      </p:sp>
      <p:sp>
        <p:nvSpPr>
          <p:cNvPr id="14" name="Text 12"/>
          <p:cNvSpPr/>
          <p:nvPr/>
        </p:nvSpPr>
        <p:spPr>
          <a:xfrm>
            <a:off x="749808"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5" name="Text 13"/>
          <p:cNvSpPr/>
          <p:nvPr/>
        </p:nvSpPr>
        <p:spPr>
          <a:xfrm>
            <a:off x="749808" y="2734056"/>
            <a:ext cx="1508760" cy="310896"/>
          </a:xfrm>
          <a:prstGeom prst="rect">
            <a:avLst/>
          </a:prstGeom>
          <a:noFill/>
          <a:ln/>
        </p:spPr>
        <p:txBody>
          <a:bodyPr wrap="square" lIns="0" tIns="0" rIns="0" bIns="0" rtlCol="0" anchor="ctr"/>
          <a:lstStyle/>
          <a:p>
            <a:pPr marL="0" indent="0">
              <a:buNone/>
            </a:pPr>
            <a:r>
              <a:rPr lang="en-US" sz="1200" b="1" kern="0" spc="50" dirty="0">
                <a:solidFill>
                  <a:srgbClr val="1D3FAE"/>
                </a:solidFill>
                <a:latin typeface="Arial" pitchFamily="34" charset="0"/>
                <a:ea typeface="Arial" pitchFamily="34" charset="-122"/>
                <a:cs typeface="Arial" pitchFamily="34" charset="-120"/>
              </a:rPr>
              <a:t>SYMPTOM</a:t>
            </a:r>
            <a:endParaRPr lang="en-US" sz="1200" dirty="0"/>
          </a:p>
        </p:txBody>
      </p:sp>
      <p:sp>
        <p:nvSpPr>
          <p:cNvPr id="16" name="Text 14"/>
          <p:cNvSpPr/>
          <p:nvPr/>
        </p:nvSpPr>
        <p:spPr>
          <a:xfrm>
            <a:off x="749808" y="3063240"/>
            <a:ext cx="1527048" cy="1078992"/>
          </a:xfrm>
          <a:prstGeom prst="rect">
            <a:avLst/>
          </a:prstGeom>
          <a:noFill/>
          <a:ln/>
        </p:spPr>
        <p:txBody>
          <a:bodyPr wrap="square" lIns="0" tIns="0" rIns="0" bIns="0" rtlCol="0" anchor="ctr"/>
          <a:lstStyle/>
          <a:p>
            <a:pPr marL="0" indent="0">
              <a:buNone/>
            </a:pPr>
            <a:r>
              <a:rPr lang="en-US" sz="1050" dirty="0">
                <a:solidFill>
                  <a:srgbClr val="111111"/>
                </a:solidFill>
                <a:latin typeface="Arial" pitchFamily="34" charset="0"/>
                <a:ea typeface="Arial" pitchFamily="34" charset="-122"/>
                <a:cs typeface="Arial" pitchFamily="34" charset="-120"/>
              </a:rPr>
              <a:t>The car suddenly wouldn’t move, or ignored the line — with no obvious reason.</a:t>
            </a:r>
            <a:endParaRPr lang="en-US" sz="1050" dirty="0"/>
          </a:p>
        </p:txBody>
      </p:sp>
      <p:sp>
        <p:nvSpPr>
          <p:cNvPr id="17" name="Text 15"/>
          <p:cNvSpPr/>
          <p:nvPr/>
        </p:nvSpPr>
        <p:spPr>
          <a:xfrm>
            <a:off x="2423160" y="2907792"/>
            <a:ext cx="237744" cy="402336"/>
          </a:xfrm>
          <a:prstGeom prst="rect">
            <a:avLst/>
          </a:prstGeom>
          <a:noFill/>
          <a:ln/>
        </p:spPr>
        <p:txBody>
          <a:bodyPr wrap="square" lIns="0" tIns="0" rIns="0" bIns="0" rtlCol="0" anchor="ctr"/>
          <a:lstStyle/>
          <a:p>
            <a:pPr marL="0" indent="0" algn="ctr">
              <a:buNone/>
            </a:pPr>
            <a:r>
              <a:rPr lang="en-US" sz="1700" b="1" dirty="0">
                <a:solidFill>
                  <a:srgbClr val="F6A83B"/>
                </a:solidFill>
                <a:latin typeface="Arial" pitchFamily="34" charset="0"/>
                <a:ea typeface="Arial" pitchFamily="34" charset="-122"/>
                <a:cs typeface="Arial" pitchFamily="34" charset="-120"/>
              </a:rPr>
              <a:t>→</a:t>
            </a:r>
            <a:endParaRPr lang="en-US" sz="1700" dirty="0"/>
          </a:p>
        </p:txBody>
      </p:sp>
      <p:sp>
        <p:nvSpPr>
          <p:cNvPr id="18" name="Shape 16"/>
          <p:cNvSpPr/>
          <p:nvPr/>
        </p:nvSpPr>
        <p:spPr>
          <a:xfrm>
            <a:off x="2642616" y="1965960"/>
            <a:ext cx="1874520" cy="2286000"/>
          </a:xfrm>
          <a:prstGeom prst="roundRect">
            <a:avLst>
              <a:gd name="adj" fmla="val 4390"/>
            </a:avLst>
          </a:prstGeom>
          <a:solidFill>
            <a:srgbClr val="E8EEF6"/>
          </a:solidFill>
          <a:ln/>
        </p:spPr>
        <p:txBody>
          <a:bodyPr/>
          <a:lstStyle/>
          <a:p>
            <a:endParaRPr lang="en-GB"/>
          </a:p>
        </p:txBody>
      </p:sp>
      <p:sp>
        <p:nvSpPr>
          <p:cNvPr id="19" name="Shape 17"/>
          <p:cNvSpPr/>
          <p:nvPr/>
        </p:nvSpPr>
        <p:spPr>
          <a:xfrm>
            <a:off x="2825496" y="2148840"/>
            <a:ext cx="457200" cy="457200"/>
          </a:xfrm>
          <a:prstGeom prst="ellipse">
            <a:avLst/>
          </a:prstGeom>
          <a:solidFill>
            <a:srgbClr val="1D3FAE"/>
          </a:solidFill>
          <a:ln/>
        </p:spPr>
        <p:txBody>
          <a:bodyPr/>
          <a:lstStyle/>
          <a:p>
            <a:endParaRPr lang="en-GB"/>
          </a:p>
        </p:txBody>
      </p:sp>
      <p:sp>
        <p:nvSpPr>
          <p:cNvPr id="20" name="Text 18"/>
          <p:cNvSpPr/>
          <p:nvPr/>
        </p:nvSpPr>
        <p:spPr>
          <a:xfrm>
            <a:off x="2825496"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1" name="Text 19"/>
          <p:cNvSpPr/>
          <p:nvPr/>
        </p:nvSpPr>
        <p:spPr>
          <a:xfrm>
            <a:off x="2825496" y="2734056"/>
            <a:ext cx="1508760" cy="310896"/>
          </a:xfrm>
          <a:prstGeom prst="rect">
            <a:avLst/>
          </a:prstGeom>
          <a:noFill/>
          <a:ln/>
        </p:spPr>
        <p:txBody>
          <a:bodyPr wrap="square" lIns="0" tIns="0" rIns="0" bIns="0" rtlCol="0" anchor="ctr"/>
          <a:lstStyle/>
          <a:p>
            <a:pPr marL="0" indent="0">
              <a:buNone/>
            </a:pPr>
            <a:r>
              <a:rPr lang="en-US" sz="1200" b="1" kern="0" spc="50" dirty="0">
                <a:solidFill>
                  <a:srgbClr val="1D3FAE"/>
                </a:solidFill>
                <a:latin typeface="Arial" pitchFamily="34" charset="0"/>
                <a:ea typeface="Arial" pitchFamily="34" charset="-122"/>
                <a:cs typeface="Arial" pitchFamily="34" charset="-120"/>
              </a:rPr>
              <a:t>WHERE WE LOOKED</a:t>
            </a:r>
            <a:endParaRPr lang="en-US" sz="1200" dirty="0"/>
          </a:p>
        </p:txBody>
      </p:sp>
      <p:sp>
        <p:nvSpPr>
          <p:cNvPr id="22" name="Text 20"/>
          <p:cNvSpPr/>
          <p:nvPr/>
        </p:nvSpPr>
        <p:spPr>
          <a:xfrm>
            <a:off x="2825496" y="3063240"/>
            <a:ext cx="1527048" cy="1078992"/>
          </a:xfrm>
          <a:prstGeom prst="rect">
            <a:avLst/>
          </a:prstGeom>
          <a:noFill/>
          <a:ln/>
        </p:spPr>
        <p:txBody>
          <a:bodyPr wrap="square" lIns="0" tIns="0" rIns="0" bIns="0" rtlCol="0" anchor="ctr"/>
          <a:lstStyle/>
          <a:p>
            <a:pPr marL="0" indent="0">
              <a:buNone/>
            </a:pPr>
            <a:r>
              <a:rPr lang="en-US" sz="1050" dirty="0">
                <a:solidFill>
                  <a:srgbClr val="111111"/>
                </a:solidFill>
                <a:latin typeface="Arial" pitchFamily="34" charset="0"/>
                <a:ea typeface="Arial" pitchFamily="34" charset="-122"/>
                <a:cs typeface="Arial" pitchFamily="34" charset="-120"/>
              </a:rPr>
              <a:t>In the code. Again and again — re-reading logic, re-uploading, tweaking values. Hours lost.</a:t>
            </a:r>
            <a:endParaRPr lang="en-US" sz="1050" dirty="0"/>
          </a:p>
        </p:txBody>
      </p:sp>
      <p:sp>
        <p:nvSpPr>
          <p:cNvPr id="23" name="Text 21"/>
          <p:cNvSpPr/>
          <p:nvPr/>
        </p:nvSpPr>
        <p:spPr>
          <a:xfrm>
            <a:off x="4498848" y="2907792"/>
            <a:ext cx="237744" cy="402336"/>
          </a:xfrm>
          <a:prstGeom prst="rect">
            <a:avLst/>
          </a:prstGeom>
          <a:noFill/>
          <a:ln/>
        </p:spPr>
        <p:txBody>
          <a:bodyPr wrap="square" lIns="0" tIns="0" rIns="0" bIns="0" rtlCol="0" anchor="ctr"/>
          <a:lstStyle/>
          <a:p>
            <a:pPr marL="0" indent="0" algn="ctr">
              <a:buNone/>
            </a:pPr>
            <a:r>
              <a:rPr lang="en-US" sz="1700" b="1" dirty="0">
                <a:solidFill>
                  <a:srgbClr val="F6A83B"/>
                </a:solidFill>
                <a:latin typeface="Arial" pitchFamily="34" charset="0"/>
                <a:ea typeface="Arial" pitchFamily="34" charset="-122"/>
                <a:cs typeface="Arial" pitchFamily="34" charset="-120"/>
              </a:rPr>
              <a:t>→</a:t>
            </a:r>
            <a:endParaRPr lang="en-US" sz="1700" dirty="0"/>
          </a:p>
        </p:txBody>
      </p:sp>
      <p:sp>
        <p:nvSpPr>
          <p:cNvPr id="24" name="Shape 22"/>
          <p:cNvSpPr/>
          <p:nvPr/>
        </p:nvSpPr>
        <p:spPr>
          <a:xfrm>
            <a:off x="4718304" y="1965960"/>
            <a:ext cx="1874520" cy="2286000"/>
          </a:xfrm>
          <a:prstGeom prst="roundRect">
            <a:avLst>
              <a:gd name="adj" fmla="val 4390"/>
            </a:avLst>
          </a:prstGeom>
          <a:solidFill>
            <a:srgbClr val="E8EEF6"/>
          </a:solidFill>
          <a:ln/>
        </p:spPr>
        <p:txBody>
          <a:bodyPr/>
          <a:lstStyle/>
          <a:p>
            <a:endParaRPr lang="en-GB"/>
          </a:p>
        </p:txBody>
      </p:sp>
      <p:sp>
        <p:nvSpPr>
          <p:cNvPr id="25" name="Shape 23"/>
          <p:cNvSpPr/>
          <p:nvPr/>
        </p:nvSpPr>
        <p:spPr>
          <a:xfrm>
            <a:off x="4901184" y="2148840"/>
            <a:ext cx="457200" cy="457200"/>
          </a:xfrm>
          <a:prstGeom prst="ellipse">
            <a:avLst/>
          </a:prstGeom>
          <a:solidFill>
            <a:srgbClr val="F6A83B"/>
          </a:solidFill>
          <a:ln/>
        </p:spPr>
        <p:txBody>
          <a:bodyPr/>
          <a:lstStyle/>
          <a:p>
            <a:endParaRPr lang="en-GB"/>
          </a:p>
        </p:txBody>
      </p:sp>
      <p:sp>
        <p:nvSpPr>
          <p:cNvPr id="26" name="Text 24"/>
          <p:cNvSpPr/>
          <p:nvPr/>
        </p:nvSpPr>
        <p:spPr>
          <a:xfrm>
            <a:off x="4901184"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Text 25"/>
          <p:cNvSpPr/>
          <p:nvPr/>
        </p:nvSpPr>
        <p:spPr>
          <a:xfrm>
            <a:off x="4901184" y="2734056"/>
            <a:ext cx="1508760" cy="310896"/>
          </a:xfrm>
          <a:prstGeom prst="rect">
            <a:avLst/>
          </a:prstGeom>
          <a:noFill/>
          <a:ln/>
        </p:spPr>
        <p:txBody>
          <a:bodyPr wrap="square" lIns="0" tIns="0" rIns="0" bIns="0" rtlCol="0" anchor="ctr"/>
          <a:lstStyle/>
          <a:p>
            <a:pPr marL="0" indent="0">
              <a:buNone/>
            </a:pPr>
            <a:r>
              <a:rPr lang="en-US" sz="1200" b="1" kern="0" spc="50" dirty="0">
                <a:solidFill>
                  <a:srgbClr val="1D3FAE"/>
                </a:solidFill>
                <a:latin typeface="Arial" pitchFamily="34" charset="0"/>
                <a:ea typeface="Arial" pitchFamily="34" charset="-122"/>
                <a:cs typeface="Arial" pitchFamily="34" charset="-120"/>
              </a:rPr>
              <a:t>REAL CAUSE</a:t>
            </a:r>
            <a:endParaRPr lang="en-US" sz="1200" dirty="0"/>
          </a:p>
        </p:txBody>
      </p:sp>
      <p:sp>
        <p:nvSpPr>
          <p:cNvPr id="28" name="Text 26"/>
          <p:cNvSpPr/>
          <p:nvPr/>
        </p:nvSpPr>
        <p:spPr>
          <a:xfrm>
            <a:off x="4901184" y="3063240"/>
            <a:ext cx="1527048" cy="1078992"/>
          </a:xfrm>
          <a:prstGeom prst="rect">
            <a:avLst/>
          </a:prstGeom>
          <a:noFill/>
          <a:ln/>
        </p:spPr>
        <p:txBody>
          <a:bodyPr wrap="square" lIns="0" tIns="0" rIns="0" bIns="0" rtlCol="0" anchor="ctr"/>
          <a:lstStyle/>
          <a:p>
            <a:pPr marL="0" indent="0">
              <a:buNone/>
            </a:pPr>
            <a:r>
              <a:rPr lang="en-US" sz="1050" dirty="0">
                <a:solidFill>
                  <a:srgbClr val="111111"/>
                </a:solidFill>
                <a:latin typeface="Arial" pitchFamily="34" charset="0"/>
                <a:ea typeface="Arial" pitchFamily="34" charset="-122"/>
                <a:cs typeface="Arial" pitchFamily="34" charset="-120"/>
              </a:rPr>
              <a:t>The IR sensitivity potentiometer. A minor turn shifts the detection threshold — the “bug” was a screw.</a:t>
            </a:r>
            <a:endParaRPr lang="en-US" sz="1050" dirty="0"/>
          </a:p>
        </p:txBody>
      </p:sp>
      <p:sp>
        <p:nvSpPr>
          <p:cNvPr id="29" name="Text 27"/>
          <p:cNvSpPr/>
          <p:nvPr/>
        </p:nvSpPr>
        <p:spPr>
          <a:xfrm>
            <a:off x="6574536" y="2907792"/>
            <a:ext cx="237744" cy="402336"/>
          </a:xfrm>
          <a:prstGeom prst="rect">
            <a:avLst/>
          </a:prstGeom>
          <a:noFill/>
          <a:ln/>
        </p:spPr>
        <p:txBody>
          <a:bodyPr wrap="square" lIns="0" tIns="0" rIns="0" bIns="0" rtlCol="0" anchor="ctr"/>
          <a:lstStyle/>
          <a:p>
            <a:pPr marL="0" indent="0" algn="ctr">
              <a:buNone/>
            </a:pPr>
            <a:r>
              <a:rPr lang="en-US" sz="1700" b="1" dirty="0">
                <a:solidFill>
                  <a:srgbClr val="F6A83B"/>
                </a:solidFill>
                <a:latin typeface="Arial" pitchFamily="34" charset="0"/>
                <a:ea typeface="Arial" pitchFamily="34" charset="-122"/>
                <a:cs typeface="Arial" pitchFamily="34" charset="-120"/>
              </a:rPr>
              <a:t>→</a:t>
            </a:r>
            <a:endParaRPr lang="en-US" sz="1700" dirty="0"/>
          </a:p>
        </p:txBody>
      </p:sp>
      <p:sp>
        <p:nvSpPr>
          <p:cNvPr id="30" name="Shape 28"/>
          <p:cNvSpPr/>
          <p:nvPr/>
        </p:nvSpPr>
        <p:spPr>
          <a:xfrm>
            <a:off x="6793992" y="1965960"/>
            <a:ext cx="1874520" cy="2286000"/>
          </a:xfrm>
          <a:prstGeom prst="roundRect">
            <a:avLst>
              <a:gd name="adj" fmla="val 4390"/>
            </a:avLst>
          </a:prstGeom>
          <a:solidFill>
            <a:srgbClr val="E8EEF6"/>
          </a:solidFill>
          <a:ln/>
        </p:spPr>
        <p:txBody>
          <a:bodyPr/>
          <a:lstStyle/>
          <a:p>
            <a:endParaRPr lang="en-GB"/>
          </a:p>
        </p:txBody>
      </p:sp>
      <p:sp>
        <p:nvSpPr>
          <p:cNvPr id="31" name="Shape 29"/>
          <p:cNvSpPr/>
          <p:nvPr/>
        </p:nvSpPr>
        <p:spPr>
          <a:xfrm>
            <a:off x="6976872" y="2148840"/>
            <a:ext cx="457200" cy="457200"/>
          </a:xfrm>
          <a:prstGeom prst="ellipse">
            <a:avLst/>
          </a:prstGeom>
          <a:solidFill>
            <a:srgbClr val="1D3FAE"/>
          </a:solidFill>
          <a:ln/>
        </p:spPr>
        <p:txBody>
          <a:bodyPr/>
          <a:lstStyle/>
          <a:p>
            <a:endParaRPr lang="en-GB"/>
          </a:p>
        </p:txBody>
      </p:sp>
      <p:sp>
        <p:nvSpPr>
          <p:cNvPr id="32" name="Text 30"/>
          <p:cNvSpPr/>
          <p:nvPr/>
        </p:nvSpPr>
        <p:spPr>
          <a:xfrm>
            <a:off x="6976872" y="21488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3" name="Text 31"/>
          <p:cNvSpPr/>
          <p:nvPr/>
        </p:nvSpPr>
        <p:spPr>
          <a:xfrm>
            <a:off x="6976872" y="2734056"/>
            <a:ext cx="1508760" cy="310896"/>
          </a:xfrm>
          <a:prstGeom prst="rect">
            <a:avLst/>
          </a:prstGeom>
          <a:noFill/>
          <a:ln/>
        </p:spPr>
        <p:txBody>
          <a:bodyPr wrap="square" lIns="0" tIns="0" rIns="0" bIns="0" rtlCol="0" anchor="ctr"/>
          <a:lstStyle/>
          <a:p>
            <a:pPr marL="0" indent="0">
              <a:buNone/>
            </a:pPr>
            <a:r>
              <a:rPr lang="en-US" sz="1200" b="1" kern="0" spc="50" dirty="0">
                <a:solidFill>
                  <a:srgbClr val="1D3FAE"/>
                </a:solidFill>
                <a:latin typeface="Arial" pitchFamily="34" charset="0"/>
                <a:ea typeface="Arial" pitchFamily="34" charset="-122"/>
                <a:cs typeface="Arial" pitchFamily="34" charset="-120"/>
              </a:rPr>
              <a:t>LESSON</a:t>
            </a:r>
            <a:endParaRPr lang="en-US" sz="1200" dirty="0"/>
          </a:p>
        </p:txBody>
      </p:sp>
      <p:sp>
        <p:nvSpPr>
          <p:cNvPr id="34" name="Text 32"/>
          <p:cNvSpPr/>
          <p:nvPr/>
        </p:nvSpPr>
        <p:spPr>
          <a:xfrm>
            <a:off x="6976872" y="3063240"/>
            <a:ext cx="1527048" cy="1078992"/>
          </a:xfrm>
          <a:prstGeom prst="rect">
            <a:avLst/>
          </a:prstGeom>
          <a:noFill/>
          <a:ln/>
        </p:spPr>
        <p:txBody>
          <a:bodyPr wrap="square" lIns="0" tIns="0" rIns="0" bIns="0" rtlCol="0" anchor="ctr"/>
          <a:lstStyle/>
          <a:p>
            <a:pPr marL="0" indent="0">
              <a:buNone/>
            </a:pPr>
            <a:r>
              <a:rPr lang="en-US" sz="1050" dirty="0">
                <a:solidFill>
                  <a:srgbClr val="111111"/>
                </a:solidFill>
                <a:latin typeface="Arial" pitchFamily="34" charset="0"/>
                <a:ea typeface="Arial" pitchFamily="34" charset="-122"/>
                <a:cs typeface="Arial" pitchFamily="34" charset="-120"/>
              </a:rPr>
              <a:t>Verify the hardware first. A 30-second sensor check beats hours of debugging correct code.</a:t>
            </a:r>
            <a:endParaRPr lang="en-US" sz="1050" dirty="0"/>
          </a:p>
        </p:txBody>
      </p:sp>
      <p:sp>
        <p:nvSpPr>
          <p:cNvPr id="35" name="Text 33"/>
          <p:cNvSpPr/>
          <p:nvPr/>
        </p:nvSpPr>
        <p:spPr>
          <a:xfrm>
            <a:off x="566928" y="4526280"/>
            <a:ext cx="8046720" cy="320040"/>
          </a:xfrm>
          <a:prstGeom prst="rect">
            <a:avLst/>
          </a:prstGeom>
          <a:noFill/>
          <a:ln/>
        </p:spPr>
        <p:txBody>
          <a:bodyPr wrap="square" lIns="0" tIns="0" rIns="0" bIns="0" rtlCol="0" anchor="ctr"/>
          <a:lstStyle/>
          <a:p>
            <a:pPr marL="0" indent="0" algn="ctr">
              <a:buNone/>
            </a:pPr>
            <a:r>
              <a:rPr lang="en-US" sz="1250" b="1" i="1" dirty="0">
                <a:solidFill>
                  <a:srgbClr val="1D3FAE"/>
                </a:solidFill>
                <a:latin typeface="Arial" pitchFamily="34" charset="0"/>
                <a:ea typeface="Arial" pitchFamily="34" charset="-122"/>
                <a:cs typeface="Arial" pitchFamily="34" charset="-120"/>
              </a:rPr>
              <a:t>Minor changes on a tiny screw — major changes in behaviour.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49640" y="-1828800"/>
            <a:ext cx="3108960" cy="3108960"/>
          </a:xfrm>
          <a:prstGeom prst="ellipse">
            <a:avLst/>
          </a:prstGeom>
          <a:solidFill>
            <a:srgbClr val="F6A83B"/>
          </a:solidFill>
          <a:ln/>
        </p:spPr>
        <p:txBody>
          <a:bodyPr/>
          <a:lstStyle/>
          <a:p>
            <a:endParaRPr lang="en-GB"/>
          </a:p>
        </p:txBody>
      </p:sp>
      <p:sp>
        <p:nvSpPr>
          <p:cNvPr id="3" name="Shape 1"/>
          <p:cNvSpPr/>
          <p:nvPr/>
        </p:nvSpPr>
        <p:spPr>
          <a:xfrm>
            <a:off x="8878824" y="-1499616"/>
            <a:ext cx="2450592" cy="2450592"/>
          </a:xfrm>
          <a:prstGeom prst="ellipse">
            <a:avLst/>
          </a:prstGeom>
          <a:solidFill>
            <a:srgbClr val="FFFFFF"/>
          </a:solidFill>
          <a:ln/>
        </p:spPr>
        <p:txBody>
          <a:bodyPr/>
          <a:lstStyle/>
          <a:p>
            <a:endParaRPr lang="en-GB"/>
          </a:p>
        </p:txBody>
      </p:sp>
      <p:sp>
        <p:nvSpPr>
          <p:cNvPr id="4" name="Shape 2"/>
          <p:cNvSpPr/>
          <p:nvPr/>
        </p:nvSpPr>
        <p:spPr>
          <a:xfrm>
            <a:off x="-731520" y="3931920"/>
            <a:ext cx="1737360" cy="1737360"/>
          </a:xfrm>
          <a:prstGeom prst="ellipse">
            <a:avLst/>
          </a:prstGeom>
          <a:solidFill>
            <a:srgbClr val="E8EEF6"/>
          </a:solidFill>
          <a:ln/>
        </p:spPr>
        <p:txBody>
          <a:bodyPr/>
          <a:lstStyle/>
          <a:p>
            <a:endParaRPr lang="en-GB"/>
          </a:p>
        </p:txBody>
      </p:sp>
      <p:sp>
        <p:nvSpPr>
          <p:cNvPr id="5" name="Text 3"/>
          <p:cNvSpPr/>
          <p:nvPr/>
        </p:nvSpPr>
        <p:spPr>
          <a:xfrm>
            <a:off x="3931920" y="201168"/>
            <a:ext cx="4663440" cy="320040"/>
          </a:xfrm>
          <a:prstGeom prst="rect">
            <a:avLst/>
          </a:prstGeom>
          <a:noFill/>
          <a:ln/>
        </p:spPr>
        <p:txBody>
          <a:bodyPr wrap="square" lIns="0" tIns="0" rIns="0" bIns="0" rtlCol="0" anchor="ctr"/>
          <a:lstStyle/>
          <a:p>
            <a:pPr marL="0" indent="0" algn="r">
              <a:buNone/>
            </a:pPr>
            <a:r>
              <a:rPr lang="en-US" sz="1400" b="1" dirty="0">
                <a:solidFill>
                  <a:srgbClr val="1D3FAE"/>
                </a:solidFill>
                <a:latin typeface="Arial" pitchFamily="34" charset="0"/>
                <a:ea typeface="Arial" pitchFamily="34" charset="-122"/>
                <a:cs typeface="Arial" pitchFamily="34" charset="-120"/>
              </a:rPr>
              <a:t>ELECTRICAL ENGINEERING | ELE</a:t>
            </a:r>
            <a:endParaRPr lang="en-US" sz="1400" dirty="0"/>
          </a:p>
        </p:txBody>
      </p:sp>
      <p:sp>
        <p:nvSpPr>
          <p:cNvPr id="6" name="Shape 4"/>
          <p:cNvSpPr/>
          <p:nvPr/>
        </p:nvSpPr>
        <p:spPr>
          <a:xfrm>
            <a:off x="6967728" y="566928"/>
            <a:ext cx="1645920" cy="402336"/>
          </a:xfrm>
          <a:prstGeom prst="roundRect">
            <a:avLst>
              <a:gd name="adj" fmla="val 50000"/>
            </a:avLst>
          </a:prstGeom>
          <a:solidFill>
            <a:srgbClr val="1D3FAE"/>
          </a:solidFill>
          <a:ln/>
        </p:spPr>
        <p:txBody>
          <a:bodyPr/>
          <a:lstStyle/>
          <a:p>
            <a:endParaRPr lang="en-GB"/>
          </a:p>
        </p:txBody>
      </p:sp>
      <p:sp>
        <p:nvSpPr>
          <p:cNvPr id="7" name="Text 5"/>
          <p:cNvSpPr/>
          <p:nvPr/>
        </p:nvSpPr>
        <p:spPr>
          <a:xfrm>
            <a:off x="6967728" y="566928"/>
            <a:ext cx="1645920"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Slide X</a:t>
            </a:r>
            <a:endParaRPr lang="en-US" sz="1400" dirty="0"/>
          </a:p>
        </p:txBody>
      </p:sp>
      <p:sp>
        <p:nvSpPr>
          <p:cNvPr id="8" name="Text 6"/>
          <p:cNvSpPr/>
          <p:nvPr/>
        </p:nvSpPr>
        <p:spPr>
          <a:xfrm>
            <a:off x="548640" y="868680"/>
            <a:ext cx="7955280" cy="685800"/>
          </a:xfrm>
          <a:prstGeom prst="rect">
            <a:avLst/>
          </a:prstGeom>
          <a:noFill/>
          <a:ln/>
        </p:spPr>
        <p:txBody>
          <a:bodyPr wrap="square" lIns="0" tIns="0" rIns="0" bIns="0" rtlCol="0" anchor="ctr"/>
          <a:lstStyle/>
          <a:p>
            <a:pPr marL="0" indent="0">
              <a:buNone/>
            </a:pPr>
            <a:r>
              <a:rPr lang="en-US" sz="2700" b="1" dirty="0">
                <a:solidFill>
                  <a:srgbClr val="1D3FAE"/>
                </a:solidFill>
                <a:latin typeface="Arial" pitchFamily="34" charset="0"/>
                <a:ea typeface="Arial" pitchFamily="34" charset="-122"/>
                <a:cs typeface="Arial" pitchFamily="34" charset="-120"/>
              </a:rPr>
              <a:t>AI AS A TEAMMATE — IF YOU BRIEF IT RIGHT</a:t>
            </a:r>
            <a:endParaRPr lang="en-US" sz="2700" dirty="0"/>
          </a:p>
        </p:txBody>
      </p:sp>
      <p:sp>
        <p:nvSpPr>
          <p:cNvPr id="9" name="Shape 7"/>
          <p:cNvSpPr/>
          <p:nvPr/>
        </p:nvSpPr>
        <p:spPr>
          <a:xfrm>
            <a:off x="566928" y="1572768"/>
            <a:ext cx="100584" cy="100584"/>
          </a:xfrm>
          <a:prstGeom prst="ellipse">
            <a:avLst/>
          </a:prstGeom>
          <a:solidFill>
            <a:srgbClr val="1D3FAE"/>
          </a:solidFill>
          <a:ln/>
        </p:spPr>
        <p:txBody>
          <a:bodyPr/>
          <a:lstStyle/>
          <a:p>
            <a:endParaRPr lang="en-GB"/>
          </a:p>
        </p:txBody>
      </p:sp>
      <p:sp>
        <p:nvSpPr>
          <p:cNvPr id="10" name="Shape 8"/>
          <p:cNvSpPr/>
          <p:nvPr/>
        </p:nvSpPr>
        <p:spPr>
          <a:xfrm>
            <a:off x="768096" y="1572768"/>
            <a:ext cx="100584" cy="100584"/>
          </a:xfrm>
          <a:prstGeom prst="ellipse">
            <a:avLst/>
          </a:prstGeom>
          <a:solidFill>
            <a:srgbClr val="1D3FAE"/>
          </a:solidFill>
          <a:ln/>
        </p:spPr>
        <p:txBody>
          <a:bodyPr/>
          <a:lstStyle/>
          <a:p>
            <a:endParaRPr lang="en-GB"/>
          </a:p>
        </p:txBody>
      </p:sp>
      <p:sp>
        <p:nvSpPr>
          <p:cNvPr id="11" name="Shape 9"/>
          <p:cNvSpPr/>
          <p:nvPr/>
        </p:nvSpPr>
        <p:spPr>
          <a:xfrm>
            <a:off x="969264" y="1572768"/>
            <a:ext cx="100584" cy="100584"/>
          </a:xfrm>
          <a:prstGeom prst="ellipse">
            <a:avLst/>
          </a:prstGeom>
          <a:solidFill>
            <a:srgbClr val="1D3FAE"/>
          </a:solidFill>
          <a:ln/>
        </p:spPr>
        <p:txBody>
          <a:bodyPr/>
          <a:lstStyle/>
          <a:p>
            <a:endParaRPr lang="en-GB"/>
          </a:p>
        </p:txBody>
      </p:sp>
      <p:sp>
        <p:nvSpPr>
          <p:cNvPr id="12" name="Shape 10"/>
          <p:cNvSpPr/>
          <p:nvPr/>
        </p:nvSpPr>
        <p:spPr>
          <a:xfrm>
            <a:off x="1170432" y="1572768"/>
            <a:ext cx="100584" cy="100584"/>
          </a:xfrm>
          <a:prstGeom prst="ellipse">
            <a:avLst/>
          </a:prstGeom>
          <a:solidFill>
            <a:srgbClr val="1D3FAE"/>
          </a:solidFill>
          <a:ln/>
        </p:spPr>
        <p:txBody>
          <a:bodyPr/>
          <a:lstStyle/>
          <a:p>
            <a:endParaRPr lang="en-GB"/>
          </a:p>
        </p:txBody>
      </p:sp>
      <p:sp>
        <p:nvSpPr>
          <p:cNvPr id="13" name="Text 11"/>
          <p:cNvSpPr/>
          <p:nvPr/>
        </p:nvSpPr>
        <p:spPr>
          <a:xfrm>
            <a:off x="566928" y="1828800"/>
            <a:ext cx="8001000" cy="36576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AI played a big role — but only when we described the robot’s exact behaviour, not just the goal.</a:t>
            </a:r>
            <a:endParaRPr lang="en-US" sz="1400" dirty="0"/>
          </a:p>
        </p:txBody>
      </p:sp>
      <p:sp>
        <p:nvSpPr>
          <p:cNvPr id="14" name="Shape 12"/>
          <p:cNvSpPr/>
          <p:nvPr/>
        </p:nvSpPr>
        <p:spPr>
          <a:xfrm>
            <a:off x="594360" y="2395728"/>
            <a:ext cx="457200" cy="457200"/>
          </a:xfrm>
          <a:prstGeom prst="ellipse">
            <a:avLst/>
          </a:prstGeom>
          <a:solidFill>
            <a:srgbClr val="F6A83B"/>
          </a:solidFill>
          <a:ln/>
        </p:spPr>
        <p:txBody>
          <a:bodyPr/>
          <a:lstStyle/>
          <a:p>
            <a:endParaRPr lang="en-GB"/>
          </a:p>
        </p:txBody>
      </p:sp>
      <p:sp>
        <p:nvSpPr>
          <p:cNvPr id="15" name="Text 13"/>
          <p:cNvSpPr/>
          <p:nvPr/>
        </p:nvSpPr>
        <p:spPr>
          <a:xfrm>
            <a:off x="594360" y="239572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6" name="Text 14"/>
          <p:cNvSpPr/>
          <p:nvPr/>
        </p:nvSpPr>
        <p:spPr>
          <a:xfrm>
            <a:off x="1234440" y="2304288"/>
            <a:ext cx="4206240" cy="77724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Describe the behaviour precisely</a:t>
            </a:r>
            <a:endParaRPr lang="en-US" sz="1300" dirty="0"/>
          </a:p>
          <a:p>
            <a:pPr marL="0" indent="0">
              <a:buNone/>
            </a:pPr>
            <a:r>
              <a:rPr lang="en-US" sz="1100" dirty="0">
                <a:solidFill>
                  <a:srgbClr val="444B57"/>
                </a:solidFill>
                <a:latin typeface="Arial" pitchFamily="34" charset="0"/>
                <a:ea typeface="Arial" pitchFamily="34" charset="-122"/>
                <a:cs typeface="Arial" pitchFamily="34" charset="-120"/>
              </a:rPr>
              <a:t>“it stalls below a certain speed”, “it turns the wrong way” — not just “it doesn’t work”.</a:t>
            </a:r>
            <a:endParaRPr lang="en-US" sz="1300" dirty="0"/>
          </a:p>
        </p:txBody>
      </p:sp>
      <p:sp>
        <p:nvSpPr>
          <p:cNvPr id="17" name="Shape 15"/>
          <p:cNvSpPr/>
          <p:nvPr/>
        </p:nvSpPr>
        <p:spPr>
          <a:xfrm>
            <a:off x="594360" y="3236976"/>
            <a:ext cx="457200" cy="457200"/>
          </a:xfrm>
          <a:prstGeom prst="ellipse">
            <a:avLst/>
          </a:prstGeom>
          <a:solidFill>
            <a:srgbClr val="F6A83B"/>
          </a:solidFill>
          <a:ln/>
        </p:spPr>
        <p:txBody>
          <a:bodyPr/>
          <a:lstStyle/>
          <a:p>
            <a:endParaRPr lang="en-GB"/>
          </a:p>
        </p:txBody>
      </p:sp>
      <p:sp>
        <p:nvSpPr>
          <p:cNvPr id="18" name="Text 16"/>
          <p:cNvSpPr/>
          <p:nvPr/>
        </p:nvSpPr>
        <p:spPr>
          <a:xfrm>
            <a:off x="594360" y="323697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Text 17"/>
          <p:cNvSpPr/>
          <p:nvPr/>
        </p:nvSpPr>
        <p:spPr>
          <a:xfrm>
            <a:off x="1234440" y="3145536"/>
            <a:ext cx="4206240" cy="77724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Give it the hardware facts</a:t>
            </a:r>
            <a:endParaRPr lang="en-US" sz="1300" dirty="0"/>
          </a:p>
          <a:p>
            <a:pPr marL="0" indent="0">
              <a:buNone/>
            </a:pPr>
            <a:r>
              <a:rPr lang="en-US" sz="1100" dirty="0">
                <a:solidFill>
                  <a:srgbClr val="444B57"/>
                </a:solidFill>
                <a:latin typeface="Arial" pitchFamily="34" charset="0"/>
                <a:ea typeface="Arial" pitchFamily="34" charset="-122"/>
                <a:cs typeface="Arial" pitchFamily="34" charset="-120"/>
              </a:rPr>
              <a:t>pin map, inverted motor wiring, the dead-zone — so solutions fit our robot, not a generic one.</a:t>
            </a:r>
            <a:endParaRPr lang="en-US" sz="1300" dirty="0"/>
          </a:p>
        </p:txBody>
      </p:sp>
      <p:sp>
        <p:nvSpPr>
          <p:cNvPr id="20" name="Shape 18"/>
          <p:cNvSpPr/>
          <p:nvPr/>
        </p:nvSpPr>
        <p:spPr>
          <a:xfrm>
            <a:off x="594360" y="4078224"/>
            <a:ext cx="457200" cy="457200"/>
          </a:xfrm>
          <a:prstGeom prst="ellipse">
            <a:avLst/>
          </a:prstGeom>
          <a:solidFill>
            <a:srgbClr val="F6A83B"/>
          </a:solidFill>
          <a:ln/>
        </p:spPr>
        <p:txBody>
          <a:bodyPr/>
          <a:lstStyle/>
          <a:p>
            <a:endParaRPr lang="en-GB"/>
          </a:p>
        </p:txBody>
      </p:sp>
      <p:sp>
        <p:nvSpPr>
          <p:cNvPr id="21" name="Text 19"/>
          <p:cNvSpPr/>
          <p:nvPr/>
        </p:nvSpPr>
        <p:spPr>
          <a:xfrm>
            <a:off x="594360" y="407822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1234440" y="3986784"/>
            <a:ext cx="4206240" cy="777240"/>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Feed test results back</a:t>
            </a:r>
            <a:endParaRPr lang="en-US" sz="1300" dirty="0"/>
          </a:p>
          <a:p>
            <a:pPr marL="0" indent="0">
              <a:buNone/>
            </a:pPr>
            <a:r>
              <a:rPr lang="en-US" sz="1100" dirty="0">
                <a:solidFill>
                  <a:srgbClr val="444B57"/>
                </a:solidFill>
                <a:latin typeface="Arial" pitchFamily="34" charset="0"/>
                <a:ea typeface="Arial" pitchFamily="34" charset="-122"/>
                <a:cs typeface="Arial" pitchFamily="34" charset="-120"/>
              </a:rPr>
              <a:t>every floor test refined the next suggestion — kick-start, ramped pivot, the V-dogleg.</a:t>
            </a:r>
            <a:endParaRPr lang="en-US" sz="1300" dirty="0"/>
          </a:p>
        </p:txBody>
      </p:sp>
      <p:sp>
        <p:nvSpPr>
          <p:cNvPr id="23" name="Shape 21"/>
          <p:cNvSpPr/>
          <p:nvPr/>
        </p:nvSpPr>
        <p:spPr>
          <a:xfrm>
            <a:off x="5989320" y="2395728"/>
            <a:ext cx="2514600" cy="512064"/>
          </a:xfrm>
          <a:prstGeom prst="roundRect">
            <a:avLst>
              <a:gd name="adj" fmla="val 50000"/>
            </a:avLst>
          </a:prstGeom>
          <a:solidFill>
            <a:srgbClr val="1D3FAE"/>
          </a:solidFill>
          <a:ln/>
        </p:spPr>
        <p:txBody>
          <a:bodyPr/>
          <a:lstStyle/>
          <a:p>
            <a:endParaRPr lang="en-GB"/>
          </a:p>
        </p:txBody>
      </p:sp>
      <p:sp>
        <p:nvSpPr>
          <p:cNvPr id="24" name="Text 22"/>
          <p:cNvSpPr/>
          <p:nvPr/>
        </p:nvSpPr>
        <p:spPr>
          <a:xfrm>
            <a:off x="5989320" y="2395728"/>
            <a:ext cx="2514600" cy="512064"/>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Arial" pitchFamily="34" charset="0"/>
                <a:ea typeface="Arial" pitchFamily="34" charset="-122"/>
                <a:cs typeface="Arial" pitchFamily="34" charset="-120"/>
              </a:rPr>
              <a:t>DESCRIBE</a:t>
            </a:r>
            <a:endParaRPr lang="en-US" sz="1300" dirty="0"/>
          </a:p>
        </p:txBody>
      </p:sp>
      <p:sp>
        <p:nvSpPr>
          <p:cNvPr id="25" name="Text 23"/>
          <p:cNvSpPr/>
          <p:nvPr/>
        </p:nvSpPr>
        <p:spPr>
          <a:xfrm>
            <a:off x="7086600" y="2907792"/>
            <a:ext cx="320040" cy="292608"/>
          </a:xfrm>
          <a:prstGeom prst="rect">
            <a:avLst/>
          </a:prstGeom>
          <a:noFill/>
          <a:ln/>
        </p:spPr>
        <p:txBody>
          <a:bodyPr wrap="square" lIns="0" tIns="0" rIns="0" bIns="0" rtlCol="0" anchor="ctr"/>
          <a:lstStyle/>
          <a:p>
            <a:pPr marL="0" indent="0" algn="ctr">
              <a:buNone/>
            </a:pPr>
            <a:r>
              <a:rPr lang="en-US" sz="1600" b="1" dirty="0">
                <a:solidFill>
                  <a:srgbClr val="F6A83B"/>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989320" y="3200400"/>
            <a:ext cx="2514600" cy="512064"/>
          </a:xfrm>
          <a:prstGeom prst="roundRect">
            <a:avLst>
              <a:gd name="adj" fmla="val 50000"/>
            </a:avLst>
          </a:prstGeom>
          <a:solidFill>
            <a:srgbClr val="F6A83B"/>
          </a:solidFill>
          <a:ln/>
        </p:spPr>
        <p:txBody>
          <a:bodyPr/>
          <a:lstStyle/>
          <a:p>
            <a:endParaRPr lang="en-GB"/>
          </a:p>
        </p:txBody>
      </p:sp>
      <p:sp>
        <p:nvSpPr>
          <p:cNvPr id="27" name="Text 25"/>
          <p:cNvSpPr/>
          <p:nvPr/>
        </p:nvSpPr>
        <p:spPr>
          <a:xfrm>
            <a:off x="5989320" y="3200400"/>
            <a:ext cx="2514600" cy="512064"/>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Arial" pitchFamily="34" charset="0"/>
                <a:ea typeface="Arial" pitchFamily="34" charset="-122"/>
                <a:cs typeface="Arial" pitchFamily="34" charset="-120"/>
              </a:rPr>
              <a:t>TEST ON THE FLOOR</a:t>
            </a:r>
            <a:endParaRPr lang="en-US" sz="1300" dirty="0"/>
          </a:p>
        </p:txBody>
      </p:sp>
      <p:sp>
        <p:nvSpPr>
          <p:cNvPr id="28" name="Text 26"/>
          <p:cNvSpPr/>
          <p:nvPr/>
        </p:nvSpPr>
        <p:spPr>
          <a:xfrm>
            <a:off x="7086600" y="3712464"/>
            <a:ext cx="320040" cy="292608"/>
          </a:xfrm>
          <a:prstGeom prst="rect">
            <a:avLst/>
          </a:prstGeom>
          <a:noFill/>
          <a:ln/>
        </p:spPr>
        <p:txBody>
          <a:bodyPr wrap="square" lIns="0" tIns="0" rIns="0" bIns="0" rtlCol="0" anchor="ctr"/>
          <a:lstStyle/>
          <a:p>
            <a:pPr marL="0" indent="0" algn="ctr">
              <a:buNone/>
            </a:pPr>
            <a:r>
              <a:rPr lang="en-US" sz="1600" b="1" dirty="0">
                <a:solidFill>
                  <a:srgbClr val="F6A83B"/>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5989320" y="4005072"/>
            <a:ext cx="2514600" cy="512064"/>
          </a:xfrm>
          <a:prstGeom prst="roundRect">
            <a:avLst>
              <a:gd name="adj" fmla="val 50000"/>
            </a:avLst>
          </a:prstGeom>
          <a:solidFill>
            <a:srgbClr val="1D3FAE"/>
          </a:solidFill>
          <a:ln/>
        </p:spPr>
        <p:txBody>
          <a:bodyPr/>
          <a:lstStyle/>
          <a:p>
            <a:endParaRPr lang="en-GB"/>
          </a:p>
        </p:txBody>
      </p:sp>
      <p:sp>
        <p:nvSpPr>
          <p:cNvPr id="30" name="Text 28"/>
          <p:cNvSpPr/>
          <p:nvPr/>
        </p:nvSpPr>
        <p:spPr>
          <a:xfrm>
            <a:off x="5989320" y="4005072"/>
            <a:ext cx="2514600" cy="512064"/>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Arial" pitchFamily="34" charset="0"/>
                <a:ea typeface="Arial" pitchFamily="34" charset="-122"/>
                <a:cs typeface="Arial" pitchFamily="34" charset="-120"/>
              </a:rPr>
              <a:t>REFINE</a:t>
            </a:r>
            <a:endParaRPr lang="en-US" sz="1300" dirty="0"/>
          </a:p>
        </p:txBody>
      </p:sp>
      <p:sp>
        <p:nvSpPr>
          <p:cNvPr id="31" name="Text 29"/>
          <p:cNvSpPr/>
          <p:nvPr/>
        </p:nvSpPr>
        <p:spPr>
          <a:xfrm>
            <a:off x="5989320" y="4645152"/>
            <a:ext cx="2514600" cy="274320"/>
          </a:xfrm>
          <a:prstGeom prst="rect">
            <a:avLst/>
          </a:prstGeom>
          <a:noFill/>
          <a:ln/>
        </p:spPr>
        <p:txBody>
          <a:bodyPr wrap="square" lIns="0" tIns="0" rIns="0" bIns="0" rtlCol="0" anchor="ctr"/>
          <a:lstStyle/>
          <a:p>
            <a:pPr marL="0" indent="0" algn="ctr">
              <a:buNone/>
            </a:pPr>
            <a:r>
              <a:rPr lang="en-US" sz="1100" i="1" dirty="0">
                <a:solidFill>
                  <a:srgbClr val="444B57"/>
                </a:solidFill>
                <a:latin typeface="Arial" pitchFamily="34" charset="0"/>
                <a:ea typeface="Arial" pitchFamily="34" charset="-122"/>
                <a:cs typeface="Arial" pitchFamily="34" charset="-120"/>
              </a:rPr>
              <a:t>↺ repeat until it behaves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1155</Words>
  <Application>Microsoft Office PowerPoint</Application>
  <PresentationFormat>On-screen Show (16:9)</PresentationFormat>
  <Paragraphs>76</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Implementation and Troubleshooting</dc:title>
  <dc:subject>PptxGenJS Presentation</dc:subject>
  <dc:creator>Ibrahim</dc:creator>
  <cp:lastModifiedBy>ibrahim abdelmalek</cp:lastModifiedBy>
  <cp:revision>2</cp:revision>
  <dcterms:created xsi:type="dcterms:W3CDTF">2026-07-03T08:36:54Z</dcterms:created>
  <dcterms:modified xsi:type="dcterms:W3CDTF">2026-07-03T08:44:00Z</dcterms:modified>
</cp:coreProperties>
</file>