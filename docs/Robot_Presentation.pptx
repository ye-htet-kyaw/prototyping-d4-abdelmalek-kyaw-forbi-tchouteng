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an autonomous line-following robot, built on an Arduino Uno, that also detects and drives around obstacles — using only the parts in our project kit. I'll cover it in four short parts: what it had to do, the hardware and wiring, the software, and the challenges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has three jobs. First, follow a marked line through both straight and curved sections of the track. Second, detect an obstacle placed in its path, drive around it, and then get back on the line on its own. Third, recognise a stop line and come to a clean halt. The one rule that shaped every decision: we could only use the components supplied in the kit — no extra batteries, no external regulators, no swapping in different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system as a whole. It follows a simple sense–decide–act loop. Two infrared sensors read the line and two ultrasonic sensors watch for obstacles ahead. All of that feeds into the Arduino Uno, which runs the control logic and drives two geared motors through an L298N motor driver. A single 11.1-volt lithium battery powers everything. The chassis is differential drive — it steers by running the left and right wheels at different speeds, with no steering servo.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part of this project was getting the wiring right. This table is the actual pin map. The two motors are driven through the L298N: pins D5 and D10 set their speeds with PWM, and four direction pins, D6 to D9, control which way each motor turns. The two line sensors sit on D2 and D3. The right ultrasonic sensor uses D12 and D11, and the left one uses the analog pins A0 and A1. Every connection had to be deliberate and consistent for the code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configuration didn't just support the software — it shaped it. Three examples. One: a single battery feeds the L298N, and the driver's own regulator sends a clean 5 volts back to the Arduino — that's what let us stay kit-only while still supplying the motors' stall current. Two: we removed the L298N's enable jumpers; that one physical change is what makes PWM speed control — and smooth turning — possible at all. Three: the motor wiring made the turn directions physically reversed, so we documented that inversion as intentional in the code so a later edit wouldn't ‘fix’ it and reverse the steering.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firmware is one reactive loop that always checks things in priority order. First, is there an obstacle? If yes, it runs the avoidance maneuver. If not, are both sensors on dark — a stop line? If yes, it stops. Otherwise, it follows the line. Line following is bang-bang with a twist: the longer the line is lost, the harder it steers back, which keeps it smooth on gentle curves and sharp when it really drifts. One more detail — the motors get a short high-power kick to start moving, because below about forty PWM they won't turn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obstacles, we use a three-phase V-dogleg. Phase one, it pivots about forty-five degrees away from the line and clears the obstacle. Phase two, it drives straight past it. Phase three, it turns back and keeps going until the IR sensor re-acquires the line — that last phase is closed-loop, so it stops turning the instant it finds the line again. We tried a half-circle arc and a boxy detour first; on the floor, the V-dogleg was the most repeatable, and a timeout failsafe keeps it from circling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real work was solving problems on the floor. The motors had a dead-zone — below about forty PWM they wouldn't move — so we added a kick-start burst to break static friction; it was friction, not a weak battery. The steering ran backwards, which we fixed in software and documented. We also found that a wider speed gap between the wheels gives a tighter turn — the opposite of what we expected. And because the kit's quirks don't show up in an idealised simulator, we tested everything on the real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robot meets all three goals — it tracks the line reliably, drives around obstacles repeatably, and stops at stop lines — and it's fully documented with a report, diagrams, and code. The tuned settings are on screen. Looking ahead, a PID controller would smooth out tight curves, wheel encoders would allow precise distance-based moves, adaptive sensor thresholds would handle changing light, and ultrasonic width sensing could tailor the avoidance to each obstacle.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6000"/>
          </a:blip>
          <a:stretch>
            <a:fillRect/>
          </a:stretch>
        </p:blipFill>
        <p:spPr>
          <a:xfrm>
            <a:off x="5989320" y="1051560"/>
            <a:ext cx="3108960" cy="3108960"/>
          </a:xfrm>
          <a:prstGeom prst="rect">
            <a:avLst/>
          </a:prstGeom>
        </p:spPr>
      </p:pic>
      <p:sp>
        <p:nvSpPr>
          <p:cNvPr id="3" name="Shape 0"/>
          <p:cNvSpPr/>
          <p:nvPr/>
        </p:nvSpPr>
        <p:spPr>
          <a:xfrm>
            <a:off x="548640" y="502920"/>
            <a:ext cx="566928" cy="566928"/>
          </a:xfrm>
          <a:prstGeom prst="ellipse">
            <a:avLst/>
          </a:prstGeom>
          <a:solidFill>
            <a:srgbClr val="0FA3A3"/>
          </a:solidFill>
          <a:ln/>
        </p:spPr>
      </p:sp>
      <p:pic>
        <p:nvPicPr>
          <p:cNvPr id="4" name="Image 1" descr="preencoded.png">    </p:cNvPr>
          <p:cNvPicPr>
            <a:picLocks noChangeAspect="1"/>
          </p:cNvPicPr>
          <p:nvPr/>
        </p:nvPicPr>
        <p:blipFill>
          <a:blip r:embed="rId2"/>
          <a:stretch>
            <a:fillRect/>
          </a:stretch>
        </p:blipFill>
        <p:spPr>
          <a:xfrm>
            <a:off x="690372" y="644652"/>
            <a:ext cx="283464" cy="283464"/>
          </a:xfrm>
          <a:prstGeom prst="rect">
            <a:avLst/>
          </a:prstGeom>
        </p:spPr>
      </p:pic>
      <p:sp>
        <p:nvSpPr>
          <p:cNvPr id="5" name="Text 1"/>
          <p:cNvSpPr/>
          <p:nvPr/>
        </p:nvSpPr>
        <p:spPr>
          <a:xfrm>
            <a:off x="1234440" y="548640"/>
            <a:ext cx="5486400" cy="45720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PROTOTYPING MODULE  ·  HSHL</a:t>
            </a:r>
            <a:endParaRPr lang="en-US" sz="1250" dirty="0"/>
          </a:p>
        </p:txBody>
      </p:sp>
      <p:sp>
        <p:nvSpPr>
          <p:cNvPr id="6" name="Text 2"/>
          <p:cNvSpPr/>
          <p:nvPr/>
        </p:nvSpPr>
        <p:spPr>
          <a:xfrm>
            <a:off x="548640" y="1874520"/>
            <a:ext cx="7498080" cy="1371600"/>
          </a:xfrm>
          <a:prstGeom prst="rect">
            <a:avLst/>
          </a:prstGeom>
          <a:noFill/>
          <a:ln/>
        </p:spPr>
        <p:txBody>
          <a:bodyPr wrap="square" lIns="0" tIns="0" rIns="0" bIns="0" rtlCol="0" anchor="ctr"/>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Autonomous Line-Following Robot</a:t>
            </a:r>
            <a:endParaRPr lang="en-US" sz="3700" dirty="0"/>
          </a:p>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with Ultrasonic Obstacle Avoidance</a:t>
            </a:r>
            <a:endParaRPr lang="en-US" sz="3700" dirty="0"/>
          </a:p>
        </p:txBody>
      </p:sp>
      <p:sp>
        <p:nvSpPr>
          <p:cNvPr id="7" name="Text 3"/>
          <p:cNvSpPr/>
          <p:nvPr/>
        </p:nvSpPr>
        <p:spPr>
          <a:xfrm>
            <a:off x="566928" y="3310128"/>
            <a:ext cx="7680960" cy="411480"/>
          </a:xfrm>
          <a:prstGeom prst="rect">
            <a:avLst/>
          </a:prstGeom>
          <a:noFill/>
          <a:ln/>
        </p:spPr>
        <p:txBody>
          <a:bodyPr wrap="square" lIns="0" tIns="0" rIns="0" bIns="0" rtlCol="0" anchor="ctr"/>
          <a:lstStyle/>
          <a:p>
            <a:pPr indent="0" marL="0">
              <a:buNone/>
            </a:pPr>
            <a:r>
              <a:rPr lang="en-US" sz="1600" i="1" dirty="0">
                <a:solidFill>
                  <a:srgbClr val="0FA3A3"/>
                </a:solidFill>
                <a:latin typeface="Calibri" pitchFamily="34" charset="0"/>
                <a:ea typeface="Calibri" pitchFamily="34" charset="-122"/>
                <a:cs typeface="Calibri" pitchFamily="34" charset="-120"/>
              </a:rPr>
              <a:t>An Arduino-based robot car built entirely from the project kit</a:t>
            </a:r>
            <a:endParaRPr lang="en-US" sz="1600" dirty="0"/>
          </a:p>
        </p:txBody>
      </p:sp>
      <p:sp>
        <p:nvSpPr>
          <p:cNvPr id="8" name="Text 4"/>
          <p:cNvSpPr/>
          <p:nvPr/>
        </p:nvSpPr>
        <p:spPr>
          <a:xfrm>
            <a:off x="566928" y="4343400"/>
            <a:ext cx="8229600" cy="365760"/>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Ibrahim     ·     Hochschule Hamm-Lippstadt (HSHL)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1  ·  INTRODUCTION &amp; OBJECTIVES</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What the Robot Has to Do</a:t>
            </a:r>
            <a:endParaRPr lang="en-US" sz="2900" dirty="0"/>
          </a:p>
        </p:txBody>
      </p:sp>
      <p:sp>
        <p:nvSpPr>
          <p:cNvPr id="4" name="Shape 2"/>
          <p:cNvSpPr/>
          <p:nvPr/>
        </p:nvSpPr>
        <p:spPr>
          <a:xfrm>
            <a:off x="502920" y="1481328"/>
            <a:ext cx="2743200" cy="1874520"/>
          </a:xfrm>
          <a:prstGeom prst="roundRect">
            <a:avLst>
              <a:gd name="adj" fmla="val 3415"/>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5" name="Shape 3"/>
          <p:cNvSpPr/>
          <p:nvPr/>
        </p:nvSpPr>
        <p:spPr>
          <a:xfrm>
            <a:off x="758952" y="1755648"/>
            <a:ext cx="658368" cy="658368"/>
          </a:xfrm>
          <a:prstGeom prst="ellipse">
            <a:avLst/>
          </a:prstGeom>
          <a:solidFill>
            <a:srgbClr val="0FA3A3"/>
          </a:solidFill>
          <a:ln/>
        </p:spPr>
      </p:sp>
      <p:pic>
        <p:nvPicPr>
          <p:cNvPr id="6" name="Image 0" descr="preencoded.png">    </p:cNvPr>
          <p:cNvPicPr>
            <a:picLocks noChangeAspect="1"/>
          </p:cNvPicPr>
          <p:nvPr/>
        </p:nvPicPr>
        <p:blipFill>
          <a:blip r:embed="rId1"/>
          <a:stretch>
            <a:fillRect/>
          </a:stretch>
        </p:blipFill>
        <p:spPr>
          <a:xfrm>
            <a:off x="923544" y="1920240"/>
            <a:ext cx="329184" cy="329184"/>
          </a:xfrm>
          <a:prstGeom prst="rect">
            <a:avLst/>
          </a:prstGeom>
        </p:spPr>
      </p:pic>
      <p:sp>
        <p:nvSpPr>
          <p:cNvPr id="7" name="Text 4"/>
          <p:cNvSpPr/>
          <p:nvPr/>
        </p:nvSpPr>
        <p:spPr>
          <a:xfrm>
            <a:off x="758952" y="2505456"/>
            <a:ext cx="2231136" cy="320040"/>
          </a:xfrm>
          <a:prstGeom prst="rect">
            <a:avLst/>
          </a:prstGeom>
          <a:noFill/>
          <a:ln/>
        </p:spPr>
        <p:txBody>
          <a:bodyPr wrap="square" lIns="0" tIns="0" rIns="0" bIns="0" rtlCol="0" anchor="ctr"/>
          <a:lstStyle/>
          <a:p>
            <a:pPr indent="0" marL="0">
              <a:buNone/>
            </a:pPr>
            <a:r>
              <a:rPr lang="en-US" sz="1550" b="1" dirty="0">
                <a:solidFill>
                  <a:srgbClr val="1E3760"/>
                </a:solidFill>
                <a:latin typeface="Calibri" pitchFamily="34" charset="0"/>
                <a:ea typeface="Calibri" pitchFamily="34" charset="-122"/>
                <a:cs typeface="Calibri" pitchFamily="34" charset="-120"/>
              </a:rPr>
              <a:t>Follow the line</a:t>
            </a:r>
            <a:endParaRPr lang="en-US" sz="1550" dirty="0"/>
          </a:p>
        </p:txBody>
      </p:sp>
      <p:sp>
        <p:nvSpPr>
          <p:cNvPr id="8" name="Text 5"/>
          <p:cNvSpPr/>
          <p:nvPr/>
        </p:nvSpPr>
        <p:spPr>
          <a:xfrm>
            <a:off x="758952" y="2825496"/>
            <a:ext cx="2286000" cy="457200"/>
          </a:xfrm>
          <a:prstGeom prst="rect">
            <a:avLst/>
          </a:prstGeom>
          <a:noFill/>
          <a:ln/>
        </p:spPr>
        <p:txBody>
          <a:bodyPr wrap="square" lIns="0" tIns="0" rIns="0" bIns="0" rtlCol="0" anchor="ctr"/>
          <a:lstStyle/>
          <a:p>
            <a:pPr indent="0" marL="0">
              <a:buNone/>
            </a:pPr>
            <a:r>
              <a:rPr lang="en-US" sz="1200" dirty="0">
                <a:solidFill>
                  <a:srgbClr val="26344A"/>
                </a:solidFill>
                <a:latin typeface="Calibri" pitchFamily="34" charset="0"/>
                <a:ea typeface="Calibri" pitchFamily="34" charset="-122"/>
                <a:cs typeface="Calibri" pitchFamily="34" charset="-120"/>
              </a:rPr>
              <a:t>Track a marked path through straight and curved sections.</a:t>
            </a:r>
            <a:endParaRPr lang="en-US" sz="1200" dirty="0"/>
          </a:p>
        </p:txBody>
      </p:sp>
      <p:sp>
        <p:nvSpPr>
          <p:cNvPr id="9" name="Shape 6"/>
          <p:cNvSpPr/>
          <p:nvPr/>
        </p:nvSpPr>
        <p:spPr>
          <a:xfrm>
            <a:off x="3410712" y="1481328"/>
            <a:ext cx="2743200" cy="1874520"/>
          </a:xfrm>
          <a:prstGeom prst="roundRect">
            <a:avLst>
              <a:gd name="adj" fmla="val 3415"/>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0" name="Shape 7"/>
          <p:cNvSpPr/>
          <p:nvPr/>
        </p:nvSpPr>
        <p:spPr>
          <a:xfrm>
            <a:off x="3666744" y="1755648"/>
            <a:ext cx="658368" cy="658368"/>
          </a:xfrm>
          <a:prstGeom prst="ellipse">
            <a:avLst/>
          </a:prstGeom>
          <a:solidFill>
            <a:srgbClr val="0FA3A3"/>
          </a:solidFill>
          <a:ln/>
        </p:spPr>
      </p:sp>
      <p:pic>
        <p:nvPicPr>
          <p:cNvPr id="11" name="Image 1" descr="preencoded.png">    </p:cNvPr>
          <p:cNvPicPr>
            <a:picLocks noChangeAspect="1"/>
          </p:cNvPicPr>
          <p:nvPr/>
        </p:nvPicPr>
        <p:blipFill>
          <a:blip r:embed="rId2"/>
          <a:stretch>
            <a:fillRect/>
          </a:stretch>
        </p:blipFill>
        <p:spPr>
          <a:xfrm>
            <a:off x="3831336" y="1920240"/>
            <a:ext cx="329184" cy="329184"/>
          </a:xfrm>
          <a:prstGeom prst="rect">
            <a:avLst/>
          </a:prstGeom>
        </p:spPr>
      </p:pic>
      <p:sp>
        <p:nvSpPr>
          <p:cNvPr id="12" name="Text 8"/>
          <p:cNvSpPr/>
          <p:nvPr/>
        </p:nvSpPr>
        <p:spPr>
          <a:xfrm>
            <a:off x="3666744" y="2505456"/>
            <a:ext cx="2231136" cy="320040"/>
          </a:xfrm>
          <a:prstGeom prst="rect">
            <a:avLst/>
          </a:prstGeom>
          <a:noFill/>
          <a:ln/>
        </p:spPr>
        <p:txBody>
          <a:bodyPr wrap="square" lIns="0" tIns="0" rIns="0" bIns="0" rtlCol="0" anchor="ctr"/>
          <a:lstStyle/>
          <a:p>
            <a:pPr indent="0" marL="0">
              <a:buNone/>
            </a:pPr>
            <a:r>
              <a:rPr lang="en-US" sz="1550" b="1" dirty="0">
                <a:solidFill>
                  <a:srgbClr val="1E3760"/>
                </a:solidFill>
                <a:latin typeface="Calibri" pitchFamily="34" charset="0"/>
                <a:ea typeface="Calibri" pitchFamily="34" charset="-122"/>
                <a:cs typeface="Calibri" pitchFamily="34" charset="-120"/>
              </a:rPr>
              <a:t>Avoid obstacles</a:t>
            </a:r>
            <a:endParaRPr lang="en-US" sz="1550" dirty="0"/>
          </a:p>
        </p:txBody>
      </p:sp>
      <p:sp>
        <p:nvSpPr>
          <p:cNvPr id="13" name="Text 9"/>
          <p:cNvSpPr/>
          <p:nvPr/>
        </p:nvSpPr>
        <p:spPr>
          <a:xfrm>
            <a:off x="3666744" y="2825496"/>
            <a:ext cx="2286000" cy="457200"/>
          </a:xfrm>
          <a:prstGeom prst="rect">
            <a:avLst/>
          </a:prstGeom>
          <a:noFill/>
          <a:ln/>
        </p:spPr>
        <p:txBody>
          <a:bodyPr wrap="square" lIns="0" tIns="0" rIns="0" bIns="0" rtlCol="0" anchor="ctr"/>
          <a:lstStyle/>
          <a:p>
            <a:pPr indent="0" marL="0">
              <a:buNone/>
            </a:pPr>
            <a:r>
              <a:rPr lang="en-US" sz="1200" dirty="0">
                <a:solidFill>
                  <a:srgbClr val="26344A"/>
                </a:solidFill>
                <a:latin typeface="Calibri" pitchFamily="34" charset="0"/>
                <a:ea typeface="Calibri" pitchFamily="34" charset="-122"/>
                <a:cs typeface="Calibri" pitchFamily="34" charset="-120"/>
              </a:rPr>
              <a:t>Detect an object, drive around it, then return to the line.</a:t>
            </a:r>
            <a:endParaRPr lang="en-US" sz="1200" dirty="0"/>
          </a:p>
        </p:txBody>
      </p:sp>
      <p:sp>
        <p:nvSpPr>
          <p:cNvPr id="14" name="Shape 10"/>
          <p:cNvSpPr/>
          <p:nvPr/>
        </p:nvSpPr>
        <p:spPr>
          <a:xfrm>
            <a:off x="6318504" y="1481328"/>
            <a:ext cx="2743200" cy="1874520"/>
          </a:xfrm>
          <a:prstGeom prst="roundRect">
            <a:avLst>
              <a:gd name="adj" fmla="val 3415"/>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5" name="Shape 11"/>
          <p:cNvSpPr/>
          <p:nvPr/>
        </p:nvSpPr>
        <p:spPr>
          <a:xfrm>
            <a:off x="6574536" y="1755648"/>
            <a:ext cx="658368" cy="658368"/>
          </a:xfrm>
          <a:prstGeom prst="ellipse">
            <a:avLst/>
          </a:prstGeom>
          <a:solidFill>
            <a:srgbClr val="0FA3A3"/>
          </a:solidFill>
          <a:ln/>
        </p:spPr>
      </p:sp>
      <p:pic>
        <p:nvPicPr>
          <p:cNvPr id="16" name="Image 2" descr="preencoded.png">    </p:cNvPr>
          <p:cNvPicPr>
            <a:picLocks noChangeAspect="1"/>
          </p:cNvPicPr>
          <p:nvPr/>
        </p:nvPicPr>
        <p:blipFill>
          <a:blip r:embed="rId3"/>
          <a:stretch>
            <a:fillRect/>
          </a:stretch>
        </p:blipFill>
        <p:spPr>
          <a:xfrm>
            <a:off x="6739128" y="1920240"/>
            <a:ext cx="329184" cy="329184"/>
          </a:xfrm>
          <a:prstGeom prst="rect">
            <a:avLst/>
          </a:prstGeom>
        </p:spPr>
      </p:pic>
      <p:sp>
        <p:nvSpPr>
          <p:cNvPr id="17" name="Text 12"/>
          <p:cNvSpPr/>
          <p:nvPr/>
        </p:nvSpPr>
        <p:spPr>
          <a:xfrm>
            <a:off x="6574536" y="2505456"/>
            <a:ext cx="2231136" cy="320040"/>
          </a:xfrm>
          <a:prstGeom prst="rect">
            <a:avLst/>
          </a:prstGeom>
          <a:noFill/>
          <a:ln/>
        </p:spPr>
        <p:txBody>
          <a:bodyPr wrap="square" lIns="0" tIns="0" rIns="0" bIns="0" rtlCol="0" anchor="ctr"/>
          <a:lstStyle/>
          <a:p>
            <a:pPr indent="0" marL="0">
              <a:buNone/>
            </a:pPr>
            <a:r>
              <a:rPr lang="en-US" sz="1550" b="1" dirty="0">
                <a:solidFill>
                  <a:srgbClr val="1E3760"/>
                </a:solidFill>
                <a:latin typeface="Calibri" pitchFamily="34" charset="0"/>
                <a:ea typeface="Calibri" pitchFamily="34" charset="-122"/>
                <a:cs typeface="Calibri" pitchFamily="34" charset="-120"/>
              </a:rPr>
              <a:t>Stop at stop lines</a:t>
            </a:r>
            <a:endParaRPr lang="en-US" sz="1550" dirty="0"/>
          </a:p>
        </p:txBody>
      </p:sp>
      <p:sp>
        <p:nvSpPr>
          <p:cNvPr id="18" name="Text 13"/>
          <p:cNvSpPr/>
          <p:nvPr/>
        </p:nvSpPr>
        <p:spPr>
          <a:xfrm>
            <a:off x="6574536" y="2825496"/>
            <a:ext cx="2286000" cy="457200"/>
          </a:xfrm>
          <a:prstGeom prst="rect">
            <a:avLst/>
          </a:prstGeom>
          <a:noFill/>
          <a:ln/>
        </p:spPr>
        <p:txBody>
          <a:bodyPr wrap="square" lIns="0" tIns="0" rIns="0" bIns="0" rtlCol="0" anchor="ctr"/>
          <a:lstStyle/>
          <a:p>
            <a:pPr indent="0" marL="0">
              <a:buNone/>
            </a:pPr>
            <a:r>
              <a:rPr lang="en-US" sz="1200" dirty="0">
                <a:solidFill>
                  <a:srgbClr val="26344A"/>
                </a:solidFill>
                <a:latin typeface="Calibri" pitchFamily="34" charset="0"/>
                <a:ea typeface="Calibri" pitchFamily="34" charset="-122"/>
                <a:cs typeface="Calibri" pitchFamily="34" charset="-120"/>
              </a:rPr>
              <a:t>Recognise a stop line and come to a clean halt.</a:t>
            </a:r>
            <a:endParaRPr lang="en-US" sz="1200" dirty="0"/>
          </a:p>
        </p:txBody>
      </p:sp>
      <p:sp>
        <p:nvSpPr>
          <p:cNvPr id="19" name="Shape 14"/>
          <p:cNvSpPr/>
          <p:nvPr/>
        </p:nvSpPr>
        <p:spPr>
          <a:xfrm>
            <a:off x="502920" y="3639312"/>
            <a:ext cx="8229600" cy="960120"/>
          </a:xfrm>
          <a:prstGeom prst="roundRect">
            <a:avLst>
              <a:gd name="adj" fmla="val 6667"/>
            </a:avLst>
          </a:prstGeom>
          <a:solidFill>
            <a:srgbClr val="EFF4F9"/>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20" name="Shape 15"/>
          <p:cNvSpPr/>
          <p:nvPr/>
        </p:nvSpPr>
        <p:spPr>
          <a:xfrm>
            <a:off x="777240" y="3886200"/>
            <a:ext cx="457200" cy="457200"/>
          </a:xfrm>
          <a:prstGeom prst="ellipse">
            <a:avLst/>
          </a:prstGeom>
          <a:solidFill>
            <a:srgbClr val="1E3760"/>
          </a:solidFill>
          <a:ln/>
        </p:spPr>
      </p:sp>
      <p:pic>
        <p:nvPicPr>
          <p:cNvPr id="21" name="Image 3" descr="preencoded.png">    </p:cNvPr>
          <p:cNvPicPr>
            <a:picLocks noChangeAspect="1"/>
          </p:cNvPicPr>
          <p:nvPr/>
        </p:nvPicPr>
        <p:blipFill>
          <a:blip r:embed="rId4"/>
          <a:stretch>
            <a:fillRect/>
          </a:stretch>
        </p:blipFill>
        <p:spPr>
          <a:xfrm>
            <a:off x="891540" y="4000500"/>
            <a:ext cx="228600" cy="228600"/>
          </a:xfrm>
          <a:prstGeom prst="rect">
            <a:avLst/>
          </a:prstGeom>
        </p:spPr>
      </p:pic>
      <p:sp>
        <p:nvSpPr>
          <p:cNvPr id="22" name="Text 16"/>
          <p:cNvSpPr/>
          <p:nvPr/>
        </p:nvSpPr>
        <p:spPr>
          <a:xfrm>
            <a:off x="1417320" y="3639312"/>
            <a:ext cx="7040880" cy="960120"/>
          </a:xfrm>
          <a:prstGeom prst="rect">
            <a:avLst/>
          </a:prstGeom>
          <a:noFill/>
          <a:ln/>
        </p:spPr>
        <p:txBody>
          <a:bodyPr wrap="square" lIns="0" tIns="0" rIns="0" bIns="0" rtlCol="0" anchor="ctr"/>
          <a:lstStyle/>
          <a:p>
            <a:pPr indent="0" marL="0">
              <a:buNone/>
            </a:pPr>
            <a:r>
              <a:rPr lang="en-US" sz="1350" b="1" dirty="0">
                <a:solidFill>
                  <a:srgbClr val="1E3760"/>
                </a:solidFill>
                <a:latin typeface="Calibri" pitchFamily="34" charset="0"/>
                <a:ea typeface="Calibri" pitchFamily="34" charset="-122"/>
                <a:cs typeface="Calibri" pitchFamily="34" charset="-120"/>
              </a:rPr>
              <a:t>One rule shaped every decision:  </a:t>
            </a:r>
            <a:pPr indent="0" marL="0">
              <a:buNone/>
            </a:pPr>
            <a:r>
              <a:rPr lang="en-US" sz="1350" dirty="0">
                <a:solidFill>
                  <a:srgbClr val="26344A"/>
                </a:solidFill>
                <a:latin typeface="Calibri" pitchFamily="34" charset="0"/>
                <a:ea typeface="Calibri" pitchFamily="34" charset="-122"/>
                <a:cs typeface="Calibri" pitchFamily="34" charset="-120"/>
              </a:rPr>
              <a:t>only components supplied in the kit — no extra batteries, no external regulators, no swapped-in parts.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1  ·  INTRODUCTION &amp; OBJECTIVES</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The System at a Glance</a:t>
            </a:r>
            <a:endParaRPr lang="en-US" sz="2900" dirty="0"/>
          </a:p>
        </p:txBody>
      </p:sp>
      <p:sp>
        <p:nvSpPr>
          <p:cNvPr id="4" name="Shape 2"/>
          <p:cNvSpPr/>
          <p:nvPr/>
        </p:nvSpPr>
        <p:spPr>
          <a:xfrm>
            <a:off x="393192" y="1517904"/>
            <a:ext cx="5294376" cy="2990362"/>
          </a:xfrm>
          <a:prstGeom prst="roundRect">
            <a:avLst>
              <a:gd name="adj" fmla="val 1835"/>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pic>
        <p:nvPicPr>
          <p:cNvPr id="5" name="Image 0" descr="/home/claude/report/assets/fig1_block.png">    </p:cNvPr>
          <p:cNvPicPr>
            <a:picLocks noChangeAspect="1"/>
          </p:cNvPicPr>
          <p:nvPr/>
        </p:nvPicPr>
        <p:blipFill>
          <a:blip r:embed="rId1"/>
          <a:stretch>
            <a:fillRect/>
          </a:stretch>
        </p:blipFill>
        <p:spPr>
          <a:xfrm>
            <a:off x="502920" y="1627632"/>
            <a:ext cx="5074920" cy="2770906"/>
          </a:xfrm>
          <a:prstGeom prst="rect">
            <a:avLst/>
          </a:prstGeom>
        </p:spPr>
      </p:pic>
      <p:sp>
        <p:nvSpPr>
          <p:cNvPr id="6" name="Text 3"/>
          <p:cNvSpPr/>
          <p:nvPr/>
        </p:nvSpPr>
        <p:spPr>
          <a:xfrm>
            <a:off x="502920" y="4544842"/>
            <a:ext cx="5074920" cy="274320"/>
          </a:xfrm>
          <a:prstGeom prst="rect">
            <a:avLst/>
          </a:prstGeom>
          <a:noFill/>
          <a:ln/>
        </p:spPr>
        <p:txBody>
          <a:bodyPr wrap="square" lIns="0" tIns="0" rIns="0" bIns="0" rtlCol="0" anchor="ctr"/>
          <a:lstStyle/>
          <a:p>
            <a:pPr algn="ctr" indent="0" marL="0">
              <a:buNone/>
            </a:pPr>
            <a:r>
              <a:rPr lang="en-US" sz="1050" i="1" dirty="0">
                <a:solidFill>
                  <a:srgbClr val="5C6B82"/>
                </a:solidFill>
                <a:latin typeface="Calibri" pitchFamily="34" charset="0"/>
                <a:ea typeface="Calibri" pitchFamily="34" charset="-122"/>
                <a:cs typeface="Calibri" pitchFamily="34" charset="-120"/>
              </a:rPr>
              <a:t>Sense → Decide → Act data flow</a:t>
            </a:r>
            <a:endParaRPr lang="en-US" sz="1050" dirty="0"/>
          </a:p>
        </p:txBody>
      </p:sp>
      <p:sp>
        <p:nvSpPr>
          <p:cNvPr id="7" name="Text 4"/>
          <p:cNvSpPr/>
          <p:nvPr/>
        </p:nvSpPr>
        <p:spPr>
          <a:xfrm>
            <a:off x="5897880" y="1554480"/>
            <a:ext cx="2788920" cy="502920"/>
          </a:xfrm>
          <a:prstGeom prst="rect">
            <a:avLst/>
          </a:prstGeom>
          <a:noFill/>
          <a:ln/>
        </p:spPr>
        <p:txBody>
          <a:bodyPr wrap="square" lIns="0" tIns="0" rIns="0" bIns="0" rtlCol="0" anchor="ctr"/>
          <a:lstStyle/>
          <a:p>
            <a:pPr indent="0" marL="0">
              <a:buNone/>
            </a:pPr>
            <a:r>
              <a:rPr lang="en-US" sz="1400" b="1" dirty="0">
                <a:solidFill>
                  <a:srgbClr val="1E3760"/>
                </a:solidFill>
                <a:latin typeface="Calibri" pitchFamily="34" charset="0"/>
                <a:ea typeface="Calibri" pitchFamily="34" charset="-122"/>
                <a:cs typeface="Calibri" pitchFamily="34" charset="-120"/>
              </a:rPr>
              <a:t>Built around a simple reactive loop</a:t>
            </a:r>
            <a:endParaRPr lang="en-US" sz="1400" dirty="0"/>
          </a:p>
        </p:txBody>
      </p:sp>
      <p:sp>
        <p:nvSpPr>
          <p:cNvPr id="8" name="Shape 5"/>
          <p:cNvSpPr/>
          <p:nvPr/>
        </p:nvSpPr>
        <p:spPr>
          <a:xfrm>
            <a:off x="5897880" y="2194560"/>
            <a:ext cx="420624" cy="420624"/>
          </a:xfrm>
          <a:prstGeom prst="ellipse">
            <a:avLst/>
          </a:prstGeom>
          <a:solidFill>
            <a:srgbClr val="0FA3A3"/>
          </a:solidFill>
          <a:ln/>
        </p:spPr>
      </p:sp>
      <p:pic>
        <p:nvPicPr>
          <p:cNvPr id="9" name="Image 1" descr="preencoded.png">    </p:cNvPr>
          <p:cNvPicPr>
            <a:picLocks noChangeAspect="1"/>
          </p:cNvPicPr>
          <p:nvPr/>
        </p:nvPicPr>
        <p:blipFill>
          <a:blip r:embed="rId2"/>
          <a:stretch>
            <a:fillRect/>
          </a:stretch>
        </p:blipFill>
        <p:spPr>
          <a:xfrm>
            <a:off x="6003036" y="2299716"/>
            <a:ext cx="210312" cy="210312"/>
          </a:xfrm>
          <a:prstGeom prst="rect">
            <a:avLst/>
          </a:prstGeom>
        </p:spPr>
      </p:pic>
      <p:sp>
        <p:nvSpPr>
          <p:cNvPr id="10" name="Text 6"/>
          <p:cNvSpPr/>
          <p:nvPr/>
        </p:nvSpPr>
        <p:spPr>
          <a:xfrm>
            <a:off x="6446520" y="2139696"/>
            <a:ext cx="2240280" cy="45720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Arduino Uno  </a:t>
            </a:r>
            <a:pPr indent="0" marL="0">
              <a:buNone/>
            </a:pPr>
            <a:r>
              <a:rPr lang="en-US" sz="1200" dirty="0">
                <a:solidFill>
                  <a:srgbClr val="26344A"/>
                </a:solidFill>
                <a:latin typeface="Calibri" pitchFamily="34" charset="0"/>
                <a:ea typeface="Calibri" pitchFamily="34" charset="-122"/>
                <a:cs typeface="Calibri" pitchFamily="34" charset="-120"/>
              </a:rPr>
              <a:t>— runs the control logic</a:t>
            </a:r>
            <a:endParaRPr lang="en-US" sz="1200" dirty="0"/>
          </a:p>
        </p:txBody>
      </p:sp>
      <p:sp>
        <p:nvSpPr>
          <p:cNvPr id="11" name="Shape 7"/>
          <p:cNvSpPr/>
          <p:nvPr/>
        </p:nvSpPr>
        <p:spPr>
          <a:xfrm>
            <a:off x="5897880" y="2729484"/>
            <a:ext cx="420624" cy="420624"/>
          </a:xfrm>
          <a:prstGeom prst="ellipse">
            <a:avLst/>
          </a:prstGeom>
          <a:solidFill>
            <a:srgbClr val="0FA3A3"/>
          </a:solidFill>
          <a:ln/>
        </p:spPr>
      </p:sp>
      <p:pic>
        <p:nvPicPr>
          <p:cNvPr id="12" name="Image 2" descr="preencoded.png">    </p:cNvPr>
          <p:cNvPicPr>
            <a:picLocks noChangeAspect="1"/>
          </p:cNvPicPr>
          <p:nvPr/>
        </p:nvPicPr>
        <p:blipFill>
          <a:blip r:embed="rId3"/>
          <a:stretch>
            <a:fillRect/>
          </a:stretch>
        </p:blipFill>
        <p:spPr>
          <a:xfrm>
            <a:off x="6003036" y="2834640"/>
            <a:ext cx="210312" cy="210312"/>
          </a:xfrm>
          <a:prstGeom prst="rect">
            <a:avLst/>
          </a:prstGeom>
        </p:spPr>
      </p:pic>
      <p:sp>
        <p:nvSpPr>
          <p:cNvPr id="13" name="Text 8"/>
          <p:cNvSpPr/>
          <p:nvPr/>
        </p:nvSpPr>
        <p:spPr>
          <a:xfrm>
            <a:off x="6446520" y="2674620"/>
            <a:ext cx="2240280" cy="45720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2× IR sensors  </a:t>
            </a:r>
            <a:pPr indent="0" marL="0">
              <a:buNone/>
            </a:pPr>
            <a:r>
              <a:rPr lang="en-US" sz="1200" dirty="0">
                <a:solidFill>
                  <a:srgbClr val="26344A"/>
                </a:solidFill>
                <a:latin typeface="Calibri" pitchFamily="34" charset="0"/>
                <a:ea typeface="Calibri" pitchFamily="34" charset="-122"/>
                <a:cs typeface="Calibri" pitchFamily="34" charset="-120"/>
              </a:rPr>
              <a:t>— read the line</a:t>
            </a:r>
            <a:endParaRPr lang="en-US" sz="1200" dirty="0"/>
          </a:p>
        </p:txBody>
      </p:sp>
      <p:sp>
        <p:nvSpPr>
          <p:cNvPr id="14" name="Shape 9"/>
          <p:cNvSpPr/>
          <p:nvPr/>
        </p:nvSpPr>
        <p:spPr>
          <a:xfrm>
            <a:off x="5897880" y="3264408"/>
            <a:ext cx="420624" cy="420624"/>
          </a:xfrm>
          <a:prstGeom prst="ellipse">
            <a:avLst/>
          </a:prstGeom>
          <a:solidFill>
            <a:srgbClr val="0FA3A3"/>
          </a:solidFill>
          <a:ln/>
        </p:spPr>
      </p:sp>
      <p:pic>
        <p:nvPicPr>
          <p:cNvPr id="15" name="Image 3" descr="preencoded.png">    </p:cNvPr>
          <p:cNvPicPr>
            <a:picLocks noChangeAspect="1"/>
          </p:cNvPicPr>
          <p:nvPr/>
        </p:nvPicPr>
        <p:blipFill>
          <a:blip r:embed="rId4"/>
          <a:stretch>
            <a:fillRect/>
          </a:stretch>
        </p:blipFill>
        <p:spPr>
          <a:xfrm>
            <a:off x="6003036" y="3369564"/>
            <a:ext cx="210312" cy="210312"/>
          </a:xfrm>
          <a:prstGeom prst="rect">
            <a:avLst/>
          </a:prstGeom>
        </p:spPr>
      </p:pic>
      <p:sp>
        <p:nvSpPr>
          <p:cNvPr id="16" name="Text 10"/>
          <p:cNvSpPr/>
          <p:nvPr/>
        </p:nvSpPr>
        <p:spPr>
          <a:xfrm>
            <a:off x="6446520" y="3209544"/>
            <a:ext cx="2240280" cy="45720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2× HC-SR04  </a:t>
            </a:r>
            <a:pPr indent="0" marL="0">
              <a:buNone/>
            </a:pPr>
            <a:r>
              <a:rPr lang="en-US" sz="1200" dirty="0">
                <a:solidFill>
                  <a:srgbClr val="26344A"/>
                </a:solidFill>
                <a:latin typeface="Calibri" pitchFamily="34" charset="0"/>
                <a:ea typeface="Calibri" pitchFamily="34" charset="-122"/>
                <a:cs typeface="Calibri" pitchFamily="34" charset="-120"/>
              </a:rPr>
              <a:t>— watch for obstacles</a:t>
            </a:r>
            <a:endParaRPr lang="en-US" sz="1200" dirty="0"/>
          </a:p>
        </p:txBody>
      </p:sp>
      <p:sp>
        <p:nvSpPr>
          <p:cNvPr id="17" name="Shape 11"/>
          <p:cNvSpPr/>
          <p:nvPr/>
        </p:nvSpPr>
        <p:spPr>
          <a:xfrm>
            <a:off x="5897880" y="3799332"/>
            <a:ext cx="420624" cy="420624"/>
          </a:xfrm>
          <a:prstGeom prst="ellipse">
            <a:avLst/>
          </a:prstGeom>
          <a:solidFill>
            <a:srgbClr val="0FA3A3"/>
          </a:solidFill>
          <a:ln/>
        </p:spPr>
      </p:sp>
      <p:pic>
        <p:nvPicPr>
          <p:cNvPr id="18" name="Image 4" descr="preencoded.png">    </p:cNvPr>
          <p:cNvPicPr>
            <a:picLocks noChangeAspect="1"/>
          </p:cNvPicPr>
          <p:nvPr/>
        </p:nvPicPr>
        <p:blipFill>
          <a:blip r:embed="rId5"/>
          <a:stretch>
            <a:fillRect/>
          </a:stretch>
        </p:blipFill>
        <p:spPr>
          <a:xfrm>
            <a:off x="6003036" y="3904488"/>
            <a:ext cx="210312" cy="210312"/>
          </a:xfrm>
          <a:prstGeom prst="rect">
            <a:avLst/>
          </a:prstGeom>
        </p:spPr>
      </p:pic>
      <p:sp>
        <p:nvSpPr>
          <p:cNvPr id="19" name="Text 12"/>
          <p:cNvSpPr/>
          <p:nvPr/>
        </p:nvSpPr>
        <p:spPr>
          <a:xfrm>
            <a:off x="6446520" y="3744468"/>
            <a:ext cx="2240280" cy="45720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L298N + 2 motors  </a:t>
            </a:r>
            <a:pPr indent="0" marL="0">
              <a:buNone/>
            </a:pPr>
            <a:r>
              <a:rPr lang="en-US" sz="1200" dirty="0">
                <a:solidFill>
                  <a:srgbClr val="26344A"/>
                </a:solidFill>
                <a:latin typeface="Calibri" pitchFamily="34" charset="0"/>
                <a:ea typeface="Calibri" pitchFamily="34" charset="-122"/>
                <a:cs typeface="Calibri" pitchFamily="34" charset="-120"/>
              </a:rPr>
              <a:t>— differential drive</a:t>
            </a:r>
            <a:endParaRPr lang="en-US" sz="1200" dirty="0"/>
          </a:p>
        </p:txBody>
      </p:sp>
      <p:sp>
        <p:nvSpPr>
          <p:cNvPr id="20" name="Shape 13"/>
          <p:cNvSpPr/>
          <p:nvPr/>
        </p:nvSpPr>
        <p:spPr>
          <a:xfrm>
            <a:off x="5897880" y="4334256"/>
            <a:ext cx="420624" cy="420624"/>
          </a:xfrm>
          <a:prstGeom prst="ellipse">
            <a:avLst/>
          </a:prstGeom>
          <a:solidFill>
            <a:srgbClr val="0FA3A3"/>
          </a:solidFill>
          <a:ln/>
        </p:spPr>
      </p:sp>
      <p:pic>
        <p:nvPicPr>
          <p:cNvPr id="21" name="Image 5" descr="preencoded.png">    </p:cNvPr>
          <p:cNvPicPr>
            <a:picLocks noChangeAspect="1"/>
          </p:cNvPicPr>
          <p:nvPr/>
        </p:nvPicPr>
        <p:blipFill>
          <a:blip r:embed="rId6"/>
          <a:stretch>
            <a:fillRect/>
          </a:stretch>
        </p:blipFill>
        <p:spPr>
          <a:xfrm>
            <a:off x="6003036" y="4439412"/>
            <a:ext cx="210312" cy="210312"/>
          </a:xfrm>
          <a:prstGeom prst="rect">
            <a:avLst/>
          </a:prstGeom>
        </p:spPr>
      </p:pic>
      <p:sp>
        <p:nvSpPr>
          <p:cNvPr id="22" name="Text 14"/>
          <p:cNvSpPr/>
          <p:nvPr/>
        </p:nvSpPr>
        <p:spPr>
          <a:xfrm>
            <a:off x="6446520" y="4279392"/>
            <a:ext cx="2240280" cy="45720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11.1 V LiPo  </a:t>
            </a:r>
            <a:pPr indent="0" marL="0">
              <a:buNone/>
            </a:pPr>
            <a:r>
              <a:rPr lang="en-US" sz="1200" dirty="0">
                <a:solidFill>
                  <a:srgbClr val="26344A"/>
                </a:solidFill>
                <a:latin typeface="Calibri" pitchFamily="34" charset="0"/>
                <a:ea typeface="Calibri" pitchFamily="34" charset="-122"/>
                <a:cs typeface="Calibri" pitchFamily="34" charset="-120"/>
              </a:rPr>
              <a:t>— powers everything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2  ·  HARDWARE &amp; WIRING</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Wiring and Pin Configuration</a:t>
            </a:r>
            <a:endParaRPr lang="en-US" sz="2900" dirty="0"/>
          </a:p>
        </p:txBody>
      </p:sp>
      <p:sp>
        <p:nvSpPr>
          <p:cNvPr id="4" name="Shape 2"/>
          <p:cNvSpPr/>
          <p:nvPr/>
        </p:nvSpPr>
        <p:spPr>
          <a:xfrm>
            <a:off x="8183880" y="566928"/>
            <a:ext cx="548640" cy="548640"/>
          </a:xfrm>
          <a:prstGeom prst="ellipse">
            <a:avLst/>
          </a:prstGeom>
          <a:solidFill>
            <a:srgbClr val="0FA3A3"/>
          </a:solidFill>
          <a:ln/>
        </p:spPr>
      </p:sp>
      <p:pic>
        <p:nvPicPr>
          <p:cNvPr id="5" name="Image 0" descr="preencoded.png">    </p:cNvPr>
          <p:cNvPicPr>
            <a:picLocks noChangeAspect="1"/>
          </p:cNvPicPr>
          <p:nvPr/>
        </p:nvPicPr>
        <p:blipFill>
          <a:blip r:embed="rId1"/>
          <a:stretch>
            <a:fillRect/>
          </a:stretch>
        </p:blipFill>
        <p:spPr>
          <a:xfrm>
            <a:off x="8321040" y="704088"/>
            <a:ext cx="274320" cy="27432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349240" cy="914400"/>
        </p:xfrm>
        <a:graphic>
          <a:graphicData uri="http://schemas.openxmlformats.org/drawingml/2006/table">
            <a:tbl>
              <a:tblPr/>
              <a:tblGrid>
                <a:gridCol w="2514600"/>
                <a:gridCol w="1691640"/>
                <a:gridCol w="1143000"/>
              </a:tblGrid>
              <a:tr h="32461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E376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Arduino pin(s)</a:t>
                      </a:r>
                      <a:endParaRPr lang="en-US" sz="115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E376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E3760"/>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Motor A — speed (PWM)</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D5  (ENA)</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L298N</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Motor A — direction</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D6, D7  (IN1/IN2)</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L298N</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Motor B — speed (PWM)</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D10  (ENB)</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L298N</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Motor B — direction</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D8, D9  (IN3/IN4)</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L298N</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Left IR line sensor</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digital</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Right IR line sensor</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D3</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digital</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Right ultrasonic</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D12 / D11</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trig / echo</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EFF4F9"/>
                    </a:solidFill>
                  </a:tcPr>
                </a:tc>
              </a:tr>
              <a:tr h="324612">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Left ultrasonic</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E3760"/>
                          </a:solidFill>
                          <a:latin typeface="Calibri" pitchFamily="34" charset="0"/>
                          <a:ea typeface="Calibri" pitchFamily="34" charset="-122"/>
                          <a:cs typeface="Calibri" pitchFamily="34" charset="-120"/>
                        </a:rPr>
                        <a:t>A0 / A1</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344A"/>
                          </a:solidFill>
                          <a:latin typeface="Calibri" pitchFamily="34" charset="0"/>
                          <a:ea typeface="Calibri" pitchFamily="34" charset="-122"/>
                          <a:cs typeface="Calibri" pitchFamily="34" charset="-120"/>
                        </a:rPr>
                        <a:t>trig / echo</a:t>
                      </a:r>
                      <a:endParaRPr lang="en-US" sz="1100" dirty="0">
                        <a:latin typeface="Calibri" charset="0"/>
                        <a:ea typeface="Calibri" charset="0"/>
                        <a:cs typeface="Calibri" charset="0"/>
                      </a:endParaRPr>
                    </a:p>
                  </a:txBody>
                  <a:tcPr marL="50800" marR="50800" marT="25400" marB="2540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FFFFF"/>
                    </a:solidFill>
                  </a:tcPr>
                </a:tc>
              </a:tr>
            </a:tbl>
          </a:graphicData>
        </a:graphic>
      </p:graphicFrame>
      <p:sp>
        <p:nvSpPr>
          <p:cNvPr id="7" name="Shape 3"/>
          <p:cNvSpPr/>
          <p:nvPr/>
        </p:nvSpPr>
        <p:spPr>
          <a:xfrm>
            <a:off x="6035040" y="1481328"/>
            <a:ext cx="2788920" cy="2971800"/>
          </a:xfrm>
          <a:prstGeom prst="roundRect">
            <a:avLst>
              <a:gd name="adj" fmla="val 2295"/>
            </a:avLst>
          </a:prstGeom>
          <a:solidFill>
            <a:srgbClr val="EFF4F9"/>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8" name="Text 4"/>
          <p:cNvSpPr/>
          <p:nvPr/>
        </p:nvSpPr>
        <p:spPr>
          <a:xfrm>
            <a:off x="6172200" y="1627632"/>
            <a:ext cx="2514600" cy="365760"/>
          </a:xfrm>
          <a:prstGeom prst="rect">
            <a:avLst/>
          </a:prstGeom>
          <a:noFill/>
          <a:ln/>
        </p:spPr>
        <p:txBody>
          <a:bodyPr wrap="square" lIns="0" tIns="0" rIns="0" bIns="0" rtlCol="0" anchor="ctr"/>
          <a:lstStyle/>
          <a:p>
            <a:pPr indent="0" marL="0">
              <a:buNone/>
            </a:pPr>
            <a:r>
              <a:rPr lang="en-US" sz="1300" b="1" dirty="0">
                <a:solidFill>
                  <a:srgbClr val="1E3760"/>
                </a:solidFill>
                <a:latin typeface="Calibri" pitchFamily="34" charset="0"/>
                <a:ea typeface="Calibri" pitchFamily="34" charset="-122"/>
                <a:cs typeface="Calibri" pitchFamily="34" charset="-120"/>
              </a:rPr>
              <a:t>Organised into three groups</a:t>
            </a:r>
            <a:endParaRPr lang="en-US" sz="1300" dirty="0"/>
          </a:p>
        </p:txBody>
      </p:sp>
      <p:sp>
        <p:nvSpPr>
          <p:cNvPr id="9" name="Shape 5"/>
          <p:cNvSpPr/>
          <p:nvPr/>
        </p:nvSpPr>
        <p:spPr>
          <a:xfrm>
            <a:off x="6172200" y="2148840"/>
            <a:ext cx="457200" cy="457200"/>
          </a:xfrm>
          <a:prstGeom prst="ellipse">
            <a:avLst/>
          </a:prstGeom>
          <a:solidFill>
            <a:srgbClr val="0FA3A3"/>
          </a:solidFill>
          <a:ln/>
        </p:spPr>
      </p:sp>
      <p:pic>
        <p:nvPicPr>
          <p:cNvPr id="10" name="Image 1" descr="preencoded.png">    </p:cNvPr>
          <p:cNvPicPr>
            <a:picLocks noChangeAspect="1"/>
          </p:cNvPicPr>
          <p:nvPr/>
        </p:nvPicPr>
        <p:blipFill>
          <a:blip r:embed="rId2"/>
          <a:stretch>
            <a:fillRect/>
          </a:stretch>
        </p:blipFill>
        <p:spPr>
          <a:xfrm>
            <a:off x="6286500" y="2263140"/>
            <a:ext cx="228600" cy="228600"/>
          </a:xfrm>
          <a:prstGeom prst="rect">
            <a:avLst/>
          </a:prstGeom>
        </p:spPr>
      </p:pic>
      <p:sp>
        <p:nvSpPr>
          <p:cNvPr id="11" name="Text 6"/>
          <p:cNvSpPr/>
          <p:nvPr/>
        </p:nvSpPr>
        <p:spPr>
          <a:xfrm>
            <a:off x="6757416" y="2103120"/>
            <a:ext cx="1965960" cy="54864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Motors</a:t>
            </a:r>
            <a:endParaRPr lang="en-US" sz="1200" dirty="0"/>
          </a:p>
          <a:p>
            <a:pPr indent="0" marL="0">
              <a:buNone/>
            </a:pPr>
            <a:r>
              <a:rPr lang="en-US" sz="1100" dirty="0">
                <a:solidFill>
                  <a:srgbClr val="26344A"/>
                </a:solidFill>
                <a:latin typeface="Calibri" pitchFamily="34" charset="0"/>
                <a:ea typeface="Calibri" pitchFamily="34" charset="-122"/>
                <a:cs typeface="Calibri" pitchFamily="34" charset="-120"/>
              </a:rPr>
              <a:t>driven via the L298N</a:t>
            </a:r>
            <a:endParaRPr lang="en-US" sz="1200" dirty="0"/>
          </a:p>
        </p:txBody>
      </p:sp>
      <p:sp>
        <p:nvSpPr>
          <p:cNvPr id="12" name="Shape 7"/>
          <p:cNvSpPr/>
          <p:nvPr/>
        </p:nvSpPr>
        <p:spPr>
          <a:xfrm>
            <a:off x="6172200" y="2898648"/>
            <a:ext cx="457200" cy="457200"/>
          </a:xfrm>
          <a:prstGeom prst="ellipse">
            <a:avLst/>
          </a:prstGeom>
          <a:solidFill>
            <a:srgbClr val="0FA3A3"/>
          </a:solidFill>
          <a:ln/>
        </p:spPr>
      </p:sp>
      <p:pic>
        <p:nvPicPr>
          <p:cNvPr id="13" name="Image 2" descr="preencoded.png">    </p:cNvPr>
          <p:cNvPicPr>
            <a:picLocks noChangeAspect="1"/>
          </p:cNvPicPr>
          <p:nvPr/>
        </p:nvPicPr>
        <p:blipFill>
          <a:blip r:embed="rId3"/>
          <a:stretch>
            <a:fillRect/>
          </a:stretch>
        </p:blipFill>
        <p:spPr>
          <a:xfrm>
            <a:off x="6286500" y="3012948"/>
            <a:ext cx="228600" cy="228600"/>
          </a:xfrm>
          <a:prstGeom prst="rect">
            <a:avLst/>
          </a:prstGeom>
        </p:spPr>
      </p:pic>
      <p:sp>
        <p:nvSpPr>
          <p:cNvPr id="14" name="Text 8"/>
          <p:cNvSpPr/>
          <p:nvPr/>
        </p:nvSpPr>
        <p:spPr>
          <a:xfrm>
            <a:off x="6757416" y="2852928"/>
            <a:ext cx="1965960" cy="54864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Line sensing</a:t>
            </a:r>
            <a:endParaRPr lang="en-US" sz="1200" dirty="0"/>
          </a:p>
          <a:p>
            <a:pPr indent="0" marL="0">
              <a:buNone/>
            </a:pPr>
            <a:r>
              <a:rPr lang="en-US" sz="1100" dirty="0">
                <a:solidFill>
                  <a:srgbClr val="26344A"/>
                </a:solidFill>
                <a:latin typeface="Calibri" pitchFamily="34" charset="0"/>
                <a:ea typeface="Calibri" pitchFamily="34" charset="-122"/>
                <a:cs typeface="Calibri" pitchFamily="34" charset="-120"/>
              </a:rPr>
              <a:t>two IR sensors</a:t>
            </a:r>
            <a:endParaRPr lang="en-US" sz="1200" dirty="0"/>
          </a:p>
        </p:txBody>
      </p:sp>
      <p:sp>
        <p:nvSpPr>
          <p:cNvPr id="15" name="Shape 9"/>
          <p:cNvSpPr/>
          <p:nvPr/>
        </p:nvSpPr>
        <p:spPr>
          <a:xfrm>
            <a:off x="6172200" y="3648456"/>
            <a:ext cx="457200" cy="457200"/>
          </a:xfrm>
          <a:prstGeom prst="ellipse">
            <a:avLst/>
          </a:prstGeom>
          <a:solidFill>
            <a:srgbClr val="0FA3A3"/>
          </a:solidFill>
          <a:ln/>
        </p:spPr>
      </p:sp>
      <p:pic>
        <p:nvPicPr>
          <p:cNvPr id="16" name="Image 3" descr="preencoded.png">    </p:cNvPr>
          <p:cNvPicPr>
            <a:picLocks noChangeAspect="1"/>
          </p:cNvPicPr>
          <p:nvPr/>
        </p:nvPicPr>
        <p:blipFill>
          <a:blip r:embed="rId4"/>
          <a:stretch>
            <a:fillRect/>
          </a:stretch>
        </p:blipFill>
        <p:spPr>
          <a:xfrm>
            <a:off x="6286500" y="3762756"/>
            <a:ext cx="228600" cy="228600"/>
          </a:xfrm>
          <a:prstGeom prst="rect">
            <a:avLst/>
          </a:prstGeom>
        </p:spPr>
      </p:pic>
      <p:sp>
        <p:nvSpPr>
          <p:cNvPr id="17" name="Text 10"/>
          <p:cNvSpPr/>
          <p:nvPr/>
        </p:nvSpPr>
        <p:spPr>
          <a:xfrm>
            <a:off x="6757416" y="3602736"/>
            <a:ext cx="1965960" cy="548640"/>
          </a:xfrm>
          <a:prstGeom prst="rect">
            <a:avLst/>
          </a:prstGeom>
          <a:noFill/>
          <a:ln/>
        </p:spPr>
        <p:txBody>
          <a:bodyPr wrap="square" lIns="0" tIns="0" rIns="0" bIns="0" rtlCol="0" anchor="ctr"/>
          <a:lstStyle/>
          <a:p>
            <a:pPr indent="0" marL="0">
              <a:buNone/>
            </a:pPr>
            <a:r>
              <a:rPr lang="en-US" sz="1200" b="1" dirty="0">
                <a:solidFill>
                  <a:srgbClr val="1E3760"/>
                </a:solidFill>
                <a:latin typeface="Calibri" pitchFamily="34" charset="0"/>
                <a:ea typeface="Calibri" pitchFamily="34" charset="-122"/>
                <a:cs typeface="Calibri" pitchFamily="34" charset="-120"/>
              </a:rPr>
              <a:t>Ranging</a:t>
            </a:r>
            <a:endParaRPr lang="en-US" sz="1200" dirty="0"/>
          </a:p>
          <a:p>
            <a:pPr indent="0" marL="0">
              <a:buNone/>
            </a:pPr>
            <a:r>
              <a:rPr lang="en-US" sz="1100" dirty="0">
                <a:solidFill>
                  <a:srgbClr val="26344A"/>
                </a:solidFill>
                <a:latin typeface="Calibri" pitchFamily="34" charset="0"/>
                <a:ea typeface="Calibri" pitchFamily="34" charset="-122"/>
                <a:cs typeface="Calibri" pitchFamily="34" charset="-120"/>
              </a:rPr>
              <a:t>two HC-SR04 units</a:t>
            </a:r>
            <a:endParaRPr lang="en-US" sz="1200" dirty="0"/>
          </a:p>
        </p:txBody>
      </p:sp>
      <p:sp>
        <p:nvSpPr>
          <p:cNvPr id="18" name="Text 11"/>
          <p:cNvSpPr/>
          <p:nvPr/>
        </p:nvSpPr>
        <p:spPr>
          <a:xfrm>
            <a:off x="6172200" y="4160520"/>
            <a:ext cx="2514600" cy="274320"/>
          </a:xfrm>
          <a:prstGeom prst="rect">
            <a:avLst/>
          </a:prstGeom>
          <a:noFill/>
          <a:ln/>
        </p:spPr>
        <p:txBody>
          <a:bodyPr wrap="square" lIns="0" tIns="0" rIns="0" bIns="0" rtlCol="0" anchor="ctr"/>
          <a:lstStyle/>
          <a:p>
            <a:pPr indent="0" marL="0">
              <a:buNone/>
            </a:pPr>
            <a:r>
              <a:rPr lang="en-US" sz="1050" i="1" dirty="0">
                <a:solidFill>
                  <a:srgbClr val="5C6B82"/>
                </a:solidFill>
                <a:latin typeface="Calibri" pitchFamily="34" charset="0"/>
                <a:ea typeface="Calibri" pitchFamily="34" charset="-122"/>
                <a:cs typeface="Calibri" pitchFamily="34" charset="-120"/>
              </a:rPr>
              <a:t>Clean, labelled wiring made debugging far easier.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2  ·  HARDWARE &amp; WIRING</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How the Hardware Shaped Everything</a:t>
            </a:r>
            <a:endParaRPr lang="en-US" sz="2900" dirty="0"/>
          </a:p>
        </p:txBody>
      </p:sp>
      <p:sp>
        <p:nvSpPr>
          <p:cNvPr id="4" name="Shape 2"/>
          <p:cNvSpPr/>
          <p:nvPr/>
        </p:nvSpPr>
        <p:spPr>
          <a:xfrm>
            <a:off x="502920" y="1536192"/>
            <a:ext cx="2743200" cy="2880360"/>
          </a:xfrm>
          <a:prstGeom prst="roundRect">
            <a:avLst>
              <a:gd name="adj" fmla="val 2333"/>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5" name="Shape 3"/>
          <p:cNvSpPr/>
          <p:nvPr/>
        </p:nvSpPr>
        <p:spPr>
          <a:xfrm>
            <a:off x="777240" y="1828800"/>
            <a:ext cx="676656" cy="676656"/>
          </a:xfrm>
          <a:prstGeom prst="ellipse">
            <a:avLst/>
          </a:prstGeom>
          <a:solidFill>
            <a:srgbClr val="0FA3A3"/>
          </a:solidFill>
          <a:ln/>
        </p:spPr>
      </p:sp>
      <p:pic>
        <p:nvPicPr>
          <p:cNvPr id="6" name="Image 0" descr="preencoded.png">    </p:cNvPr>
          <p:cNvPicPr>
            <a:picLocks noChangeAspect="1"/>
          </p:cNvPicPr>
          <p:nvPr/>
        </p:nvPicPr>
        <p:blipFill>
          <a:blip r:embed="rId1"/>
          <a:stretch>
            <a:fillRect/>
          </a:stretch>
        </p:blipFill>
        <p:spPr>
          <a:xfrm>
            <a:off x="946404" y="1997964"/>
            <a:ext cx="338328" cy="338328"/>
          </a:xfrm>
          <a:prstGeom prst="rect">
            <a:avLst/>
          </a:prstGeom>
        </p:spPr>
      </p:pic>
      <p:sp>
        <p:nvSpPr>
          <p:cNvPr id="7" name="Text 4"/>
          <p:cNvSpPr/>
          <p:nvPr/>
        </p:nvSpPr>
        <p:spPr>
          <a:xfrm>
            <a:off x="777240" y="2633472"/>
            <a:ext cx="2240280" cy="6400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One battery, one power chain</a:t>
            </a:r>
            <a:endParaRPr lang="en-US" sz="1500" dirty="0"/>
          </a:p>
        </p:txBody>
      </p:sp>
      <p:sp>
        <p:nvSpPr>
          <p:cNvPr id="8" name="Text 5"/>
          <p:cNvSpPr/>
          <p:nvPr/>
        </p:nvSpPr>
        <p:spPr>
          <a:xfrm>
            <a:off x="777240" y="3227832"/>
            <a:ext cx="2240280" cy="1051560"/>
          </a:xfrm>
          <a:prstGeom prst="rect">
            <a:avLst/>
          </a:prstGeom>
          <a:noFill/>
          <a:ln/>
        </p:spPr>
        <p:txBody>
          <a:bodyPr wrap="square" lIns="0" tIns="0" rIns="0" bIns="0" rtlCol="0" anchor="ctr"/>
          <a:lstStyle/>
          <a:p>
            <a:pPr indent="0" marL="0">
              <a:buNone/>
            </a:pPr>
            <a:r>
              <a:rPr lang="en-US" sz="1200" dirty="0">
                <a:solidFill>
                  <a:srgbClr val="26344A"/>
                </a:solidFill>
                <a:latin typeface="Calibri" pitchFamily="34" charset="0"/>
                <a:ea typeface="Calibri" pitchFamily="34" charset="-122"/>
                <a:cs typeface="Calibri" pitchFamily="34" charset="-120"/>
              </a:rPr>
              <a:t>11.1 V LiPo → L298N → on-board 5 V regulator → Arduino. Stays kit-only while supplying the motors' stall current.</a:t>
            </a:r>
            <a:endParaRPr lang="en-US" sz="1200" dirty="0"/>
          </a:p>
        </p:txBody>
      </p:sp>
      <p:sp>
        <p:nvSpPr>
          <p:cNvPr id="9" name="Shape 6"/>
          <p:cNvSpPr/>
          <p:nvPr/>
        </p:nvSpPr>
        <p:spPr>
          <a:xfrm>
            <a:off x="3410712" y="1536192"/>
            <a:ext cx="2743200" cy="2880360"/>
          </a:xfrm>
          <a:prstGeom prst="roundRect">
            <a:avLst>
              <a:gd name="adj" fmla="val 2333"/>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0" name="Shape 7"/>
          <p:cNvSpPr/>
          <p:nvPr/>
        </p:nvSpPr>
        <p:spPr>
          <a:xfrm>
            <a:off x="3685032" y="1828800"/>
            <a:ext cx="676656" cy="676656"/>
          </a:xfrm>
          <a:prstGeom prst="ellipse">
            <a:avLst/>
          </a:prstGeom>
          <a:solidFill>
            <a:srgbClr val="1E3760"/>
          </a:solidFill>
          <a:ln/>
        </p:spPr>
      </p:sp>
      <p:pic>
        <p:nvPicPr>
          <p:cNvPr id="11" name="Image 1" descr="preencoded.png">    </p:cNvPr>
          <p:cNvPicPr>
            <a:picLocks noChangeAspect="1"/>
          </p:cNvPicPr>
          <p:nvPr/>
        </p:nvPicPr>
        <p:blipFill>
          <a:blip r:embed="rId2"/>
          <a:stretch>
            <a:fillRect/>
          </a:stretch>
        </p:blipFill>
        <p:spPr>
          <a:xfrm>
            <a:off x="3854196" y="1997964"/>
            <a:ext cx="338328" cy="338328"/>
          </a:xfrm>
          <a:prstGeom prst="rect">
            <a:avLst/>
          </a:prstGeom>
        </p:spPr>
      </p:pic>
      <p:sp>
        <p:nvSpPr>
          <p:cNvPr id="12" name="Text 8"/>
          <p:cNvSpPr/>
          <p:nvPr/>
        </p:nvSpPr>
        <p:spPr>
          <a:xfrm>
            <a:off x="3685032" y="2633472"/>
            <a:ext cx="2240280" cy="6400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Jumpers removed for PWM</a:t>
            </a:r>
            <a:endParaRPr lang="en-US" sz="1500" dirty="0"/>
          </a:p>
        </p:txBody>
      </p:sp>
      <p:sp>
        <p:nvSpPr>
          <p:cNvPr id="13" name="Text 9"/>
          <p:cNvSpPr/>
          <p:nvPr/>
        </p:nvSpPr>
        <p:spPr>
          <a:xfrm>
            <a:off x="3685032" y="3227832"/>
            <a:ext cx="2240280" cy="1051560"/>
          </a:xfrm>
          <a:prstGeom prst="rect">
            <a:avLst/>
          </a:prstGeom>
          <a:noFill/>
          <a:ln/>
        </p:spPr>
        <p:txBody>
          <a:bodyPr wrap="square" lIns="0" tIns="0" rIns="0" bIns="0" rtlCol="0" anchor="ctr"/>
          <a:lstStyle/>
          <a:p>
            <a:pPr indent="0" marL="0">
              <a:buNone/>
            </a:pPr>
            <a:r>
              <a:rPr lang="en-US" sz="1200" dirty="0">
                <a:solidFill>
                  <a:srgbClr val="26344A"/>
                </a:solidFill>
                <a:latin typeface="Calibri" pitchFamily="34" charset="0"/>
                <a:ea typeface="Calibri" pitchFamily="34" charset="-122"/>
                <a:cs typeface="Calibri" pitchFamily="34" charset="-120"/>
              </a:rPr>
              <a:t>Pulling the L298N enable jumpers is what makes variable speed control — and smooth turning — possible at all.</a:t>
            </a:r>
            <a:endParaRPr lang="en-US" sz="1200" dirty="0"/>
          </a:p>
        </p:txBody>
      </p:sp>
      <p:sp>
        <p:nvSpPr>
          <p:cNvPr id="14" name="Shape 10"/>
          <p:cNvSpPr/>
          <p:nvPr/>
        </p:nvSpPr>
        <p:spPr>
          <a:xfrm>
            <a:off x="6318504" y="1536192"/>
            <a:ext cx="2743200" cy="2880360"/>
          </a:xfrm>
          <a:prstGeom prst="roundRect">
            <a:avLst>
              <a:gd name="adj" fmla="val 2333"/>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5" name="Shape 11"/>
          <p:cNvSpPr/>
          <p:nvPr/>
        </p:nvSpPr>
        <p:spPr>
          <a:xfrm>
            <a:off x="6592824" y="1828800"/>
            <a:ext cx="676656" cy="676656"/>
          </a:xfrm>
          <a:prstGeom prst="ellipse">
            <a:avLst/>
          </a:prstGeom>
          <a:solidFill>
            <a:srgbClr val="0FA3A3"/>
          </a:solidFill>
          <a:ln/>
        </p:spPr>
      </p:sp>
      <p:pic>
        <p:nvPicPr>
          <p:cNvPr id="16" name="Image 2" descr="preencoded.png">    </p:cNvPr>
          <p:cNvPicPr>
            <a:picLocks noChangeAspect="1"/>
          </p:cNvPicPr>
          <p:nvPr/>
        </p:nvPicPr>
        <p:blipFill>
          <a:blip r:embed="rId3"/>
          <a:stretch>
            <a:fillRect/>
          </a:stretch>
        </p:blipFill>
        <p:spPr>
          <a:xfrm>
            <a:off x="6761988" y="1997964"/>
            <a:ext cx="338328" cy="338328"/>
          </a:xfrm>
          <a:prstGeom prst="rect">
            <a:avLst/>
          </a:prstGeom>
        </p:spPr>
      </p:pic>
      <p:sp>
        <p:nvSpPr>
          <p:cNvPr id="17" name="Text 12"/>
          <p:cNvSpPr/>
          <p:nvPr/>
        </p:nvSpPr>
        <p:spPr>
          <a:xfrm>
            <a:off x="6592824" y="2633472"/>
            <a:ext cx="2240280" cy="6400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Wiring set the steering</a:t>
            </a:r>
            <a:endParaRPr lang="en-US" sz="1500" dirty="0"/>
          </a:p>
        </p:txBody>
      </p:sp>
      <p:sp>
        <p:nvSpPr>
          <p:cNvPr id="18" name="Text 13"/>
          <p:cNvSpPr/>
          <p:nvPr/>
        </p:nvSpPr>
        <p:spPr>
          <a:xfrm>
            <a:off x="6592824" y="3227832"/>
            <a:ext cx="2240280" cy="1051560"/>
          </a:xfrm>
          <a:prstGeom prst="rect">
            <a:avLst/>
          </a:prstGeom>
          <a:noFill/>
          <a:ln/>
        </p:spPr>
        <p:txBody>
          <a:bodyPr wrap="square" lIns="0" tIns="0" rIns="0" bIns="0" rtlCol="0" anchor="ctr"/>
          <a:lstStyle/>
          <a:p>
            <a:pPr indent="0" marL="0">
              <a:buNone/>
            </a:pPr>
            <a:r>
              <a:rPr lang="en-US" sz="1200" dirty="0">
                <a:solidFill>
                  <a:srgbClr val="26344A"/>
                </a:solidFill>
                <a:latin typeface="Calibri" pitchFamily="34" charset="0"/>
                <a:ea typeface="Calibri" pitchFamily="34" charset="-122"/>
                <a:cs typeface="Calibri" pitchFamily="34" charset="-120"/>
              </a:rPr>
              <a:t>Motor wiring made the turn directions physically reversed, so the inversion is documented as intentional in the code.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3  ·  SOFTWARE &amp; CONTROL</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The Reactive Control Loop</a:t>
            </a:r>
            <a:endParaRPr lang="en-US" sz="2900" dirty="0"/>
          </a:p>
        </p:txBody>
      </p:sp>
      <p:sp>
        <p:nvSpPr>
          <p:cNvPr id="4" name="Shape 2"/>
          <p:cNvSpPr/>
          <p:nvPr/>
        </p:nvSpPr>
        <p:spPr>
          <a:xfrm>
            <a:off x="438912" y="1261872"/>
            <a:ext cx="3303042" cy="3493008"/>
          </a:xfrm>
          <a:prstGeom prst="roundRect">
            <a:avLst>
              <a:gd name="adj" fmla="val 1661"/>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pic>
        <p:nvPicPr>
          <p:cNvPr id="5" name="Image 0" descr="/home/claude/report/assets/fig2_flow.png">    </p:cNvPr>
          <p:cNvPicPr>
            <a:picLocks noChangeAspect="1"/>
          </p:cNvPicPr>
          <p:nvPr/>
        </p:nvPicPr>
        <p:blipFill>
          <a:blip r:embed="rId1"/>
          <a:stretch>
            <a:fillRect/>
          </a:stretch>
        </p:blipFill>
        <p:spPr>
          <a:xfrm>
            <a:off x="548640" y="1371600"/>
            <a:ext cx="3083586" cy="3273552"/>
          </a:xfrm>
          <a:prstGeom prst="rect">
            <a:avLst/>
          </a:prstGeom>
        </p:spPr>
      </p:pic>
      <p:sp>
        <p:nvSpPr>
          <p:cNvPr id="6" name="Text 3"/>
          <p:cNvSpPr/>
          <p:nvPr/>
        </p:nvSpPr>
        <p:spPr>
          <a:xfrm>
            <a:off x="4343400" y="1417320"/>
            <a:ext cx="4343400" cy="365760"/>
          </a:xfrm>
          <a:prstGeom prst="rect">
            <a:avLst/>
          </a:prstGeom>
          <a:noFill/>
          <a:ln/>
        </p:spPr>
        <p:txBody>
          <a:bodyPr wrap="square" lIns="0" tIns="0" rIns="0" bIns="0" rtlCol="0" anchor="ctr"/>
          <a:lstStyle/>
          <a:p>
            <a:pPr indent="0" marL="0">
              <a:buNone/>
            </a:pPr>
            <a:r>
              <a:rPr lang="en-US" sz="1400" b="1" dirty="0">
                <a:solidFill>
                  <a:srgbClr val="1E3760"/>
                </a:solidFill>
                <a:latin typeface="Calibri" pitchFamily="34" charset="0"/>
                <a:ea typeface="Calibri" pitchFamily="34" charset="-122"/>
                <a:cs typeface="Calibri" pitchFamily="34" charset="-120"/>
              </a:rPr>
              <a:t>Checked in priority order, every loop</a:t>
            </a:r>
            <a:endParaRPr lang="en-US" sz="1400" dirty="0"/>
          </a:p>
        </p:txBody>
      </p:sp>
      <p:sp>
        <p:nvSpPr>
          <p:cNvPr id="7" name="Shape 4"/>
          <p:cNvSpPr/>
          <p:nvPr/>
        </p:nvSpPr>
        <p:spPr>
          <a:xfrm>
            <a:off x="4343400" y="1993392"/>
            <a:ext cx="420624" cy="420624"/>
          </a:xfrm>
          <a:prstGeom prst="ellipse">
            <a:avLst/>
          </a:prstGeom>
          <a:solidFill>
            <a:srgbClr val="0FA3A3"/>
          </a:solidFill>
          <a:ln/>
        </p:spPr>
      </p:sp>
      <p:sp>
        <p:nvSpPr>
          <p:cNvPr id="8" name="Text 5"/>
          <p:cNvSpPr/>
          <p:nvPr/>
        </p:nvSpPr>
        <p:spPr>
          <a:xfrm>
            <a:off x="4343400"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4910328" y="1947672"/>
            <a:ext cx="3776472" cy="457200"/>
          </a:xfrm>
          <a:prstGeom prst="rect">
            <a:avLst/>
          </a:prstGeom>
          <a:noFill/>
          <a:ln/>
        </p:spPr>
        <p:txBody>
          <a:bodyPr wrap="square" lIns="0" tIns="0" rIns="0" bIns="0" rtlCol="0" anchor="ctr"/>
          <a:lstStyle/>
          <a:p>
            <a:pPr indent="0" marL="0">
              <a:buNone/>
            </a:pPr>
            <a:r>
              <a:rPr lang="en-US" sz="1250" b="1" dirty="0">
                <a:solidFill>
                  <a:srgbClr val="1E3760"/>
                </a:solidFill>
                <a:latin typeface="Calibri" pitchFamily="34" charset="0"/>
                <a:ea typeface="Calibri" pitchFamily="34" charset="-122"/>
                <a:cs typeface="Calibri" pitchFamily="34" charset="-120"/>
              </a:rPr>
              <a:t>Obstacle?  </a:t>
            </a:r>
            <a:pPr indent="0" marL="0">
              <a:buNone/>
            </a:pPr>
            <a:r>
              <a:rPr lang="en-US" sz="1250" dirty="0">
                <a:solidFill>
                  <a:srgbClr val="26344A"/>
                </a:solidFill>
                <a:latin typeface="Calibri" pitchFamily="34" charset="0"/>
                <a:ea typeface="Calibri" pitchFamily="34" charset="-122"/>
                <a:cs typeface="Calibri" pitchFamily="34" charset="-120"/>
              </a:rPr>
              <a:t>— if yes, run the avoidance maneuver</a:t>
            </a:r>
            <a:endParaRPr lang="en-US" sz="1250" dirty="0"/>
          </a:p>
        </p:txBody>
      </p:sp>
      <p:sp>
        <p:nvSpPr>
          <p:cNvPr id="10" name="Shape 7"/>
          <p:cNvSpPr/>
          <p:nvPr/>
        </p:nvSpPr>
        <p:spPr>
          <a:xfrm>
            <a:off x="4343400" y="2560320"/>
            <a:ext cx="420624" cy="420624"/>
          </a:xfrm>
          <a:prstGeom prst="ellipse">
            <a:avLst/>
          </a:prstGeom>
          <a:solidFill>
            <a:srgbClr val="0FA3A3"/>
          </a:solidFill>
          <a:ln/>
        </p:spPr>
      </p:sp>
      <p:sp>
        <p:nvSpPr>
          <p:cNvPr id="11" name="Text 8"/>
          <p:cNvSpPr/>
          <p:nvPr/>
        </p:nvSpPr>
        <p:spPr>
          <a:xfrm>
            <a:off x="4343400" y="2560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4910328" y="2514600"/>
            <a:ext cx="3776472" cy="457200"/>
          </a:xfrm>
          <a:prstGeom prst="rect">
            <a:avLst/>
          </a:prstGeom>
          <a:noFill/>
          <a:ln/>
        </p:spPr>
        <p:txBody>
          <a:bodyPr wrap="square" lIns="0" tIns="0" rIns="0" bIns="0" rtlCol="0" anchor="ctr"/>
          <a:lstStyle/>
          <a:p>
            <a:pPr indent="0" marL="0">
              <a:buNone/>
            </a:pPr>
            <a:r>
              <a:rPr lang="en-US" sz="1250" b="1" dirty="0">
                <a:solidFill>
                  <a:srgbClr val="1E3760"/>
                </a:solidFill>
                <a:latin typeface="Calibri" pitchFamily="34" charset="0"/>
                <a:ea typeface="Calibri" pitchFamily="34" charset="-122"/>
                <a:cs typeface="Calibri" pitchFamily="34" charset="-120"/>
              </a:rPr>
              <a:t>Stop line?  </a:t>
            </a:r>
            <a:pPr indent="0" marL="0">
              <a:buNone/>
            </a:pPr>
            <a:r>
              <a:rPr lang="en-US" sz="1250" dirty="0">
                <a:solidFill>
                  <a:srgbClr val="26344A"/>
                </a:solidFill>
                <a:latin typeface="Calibri" pitchFamily="34" charset="0"/>
                <a:ea typeface="Calibri" pitchFamily="34" charset="-122"/>
                <a:cs typeface="Calibri" pitchFamily="34" charset="-120"/>
              </a:rPr>
              <a:t>— both IR dark — come to a halt</a:t>
            </a:r>
            <a:endParaRPr lang="en-US" sz="1250" dirty="0"/>
          </a:p>
        </p:txBody>
      </p:sp>
      <p:sp>
        <p:nvSpPr>
          <p:cNvPr id="13" name="Shape 10"/>
          <p:cNvSpPr/>
          <p:nvPr/>
        </p:nvSpPr>
        <p:spPr>
          <a:xfrm>
            <a:off x="4343400" y="3127248"/>
            <a:ext cx="420624" cy="420624"/>
          </a:xfrm>
          <a:prstGeom prst="ellipse">
            <a:avLst/>
          </a:prstGeom>
          <a:solidFill>
            <a:srgbClr val="0FA3A3"/>
          </a:solidFill>
          <a:ln/>
        </p:spPr>
      </p:sp>
      <p:sp>
        <p:nvSpPr>
          <p:cNvPr id="14" name="Text 11"/>
          <p:cNvSpPr/>
          <p:nvPr/>
        </p:nvSpPr>
        <p:spPr>
          <a:xfrm>
            <a:off x="4343400" y="31272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4910328" y="3081528"/>
            <a:ext cx="3776472" cy="457200"/>
          </a:xfrm>
          <a:prstGeom prst="rect">
            <a:avLst/>
          </a:prstGeom>
          <a:noFill/>
          <a:ln/>
        </p:spPr>
        <p:txBody>
          <a:bodyPr wrap="square" lIns="0" tIns="0" rIns="0" bIns="0" rtlCol="0" anchor="ctr"/>
          <a:lstStyle/>
          <a:p>
            <a:pPr indent="0" marL="0">
              <a:buNone/>
            </a:pPr>
            <a:r>
              <a:rPr lang="en-US" sz="1250" b="1" dirty="0">
                <a:solidFill>
                  <a:srgbClr val="1E3760"/>
                </a:solidFill>
                <a:latin typeface="Calibri" pitchFamily="34" charset="0"/>
                <a:ea typeface="Calibri" pitchFamily="34" charset="-122"/>
                <a:cs typeface="Calibri" pitchFamily="34" charset="-120"/>
              </a:rPr>
              <a:t>Line following  </a:t>
            </a:r>
            <a:pPr indent="0" marL="0">
              <a:buNone/>
            </a:pPr>
            <a:r>
              <a:rPr lang="en-US" sz="1250" dirty="0">
                <a:solidFill>
                  <a:srgbClr val="26344A"/>
                </a:solidFill>
                <a:latin typeface="Calibri" pitchFamily="34" charset="0"/>
                <a:ea typeface="Calibri" pitchFamily="34" charset="-122"/>
                <a:cs typeface="Calibri" pitchFamily="34" charset="-120"/>
              </a:rPr>
              <a:t>— steer toward whichever IR sees the line</a:t>
            </a:r>
            <a:endParaRPr lang="en-US" sz="1250" dirty="0"/>
          </a:p>
        </p:txBody>
      </p:sp>
      <p:sp>
        <p:nvSpPr>
          <p:cNvPr id="16" name="Shape 13"/>
          <p:cNvSpPr/>
          <p:nvPr/>
        </p:nvSpPr>
        <p:spPr>
          <a:xfrm>
            <a:off x="4343400" y="3822192"/>
            <a:ext cx="4251960" cy="841248"/>
          </a:xfrm>
          <a:prstGeom prst="roundRect">
            <a:avLst>
              <a:gd name="adj" fmla="val 7609"/>
            </a:avLst>
          </a:prstGeom>
          <a:solidFill>
            <a:srgbClr val="EFF4F9"/>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7" name="Shape 14"/>
          <p:cNvSpPr/>
          <p:nvPr/>
        </p:nvSpPr>
        <p:spPr>
          <a:xfrm>
            <a:off x="4581144" y="4032504"/>
            <a:ext cx="420624" cy="420624"/>
          </a:xfrm>
          <a:prstGeom prst="ellipse">
            <a:avLst/>
          </a:prstGeom>
          <a:solidFill>
            <a:srgbClr val="0FA3A3"/>
          </a:solidFill>
          <a:ln/>
        </p:spPr>
      </p:sp>
      <p:pic>
        <p:nvPicPr>
          <p:cNvPr id="18" name="Image 1" descr="preencoded.png">    </p:cNvPr>
          <p:cNvPicPr>
            <a:picLocks noChangeAspect="1"/>
          </p:cNvPicPr>
          <p:nvPr/>
        </p:nvPicPr>
        <p:blipFill>
          <a:blip r:embed="rId2"/>
          <a:stretch>
            <a:fillRect/>
          </a:stretch>
        </p:blipFill>
        <p:spPr>
          <a:xfrm>
            <a:off x="4686300" y="4137660"/>
            <a:ext cx="210312" cy="210312"/>
          </a:xfrm>
          <a:prstGeom prst="rect">
            <a:avLst/>
          </a:prstGeom>
        </p:spPr>
      </p:pic>
      <p:sp>
        <p:nvSpPr>
          <p:cNvPr id="19" name="Text 15"/>
          <p:cNvSpPr/>
          <p:nvPr/>
        </p:nvSpPr>
        <p:spPr>
          <a:xfrm>
            <a:off x="5129784" y="3822192"/>
            <a:ext cx="3429000" cy="841248"/>
          </a:xfrm>
          <a:prstGeom prst="rect">
            <a:avLst/>
          </a:prstGeom>
          <a:noFill/>
          <a:ln/>
        </p:spPr>
        <p:txBody>
          <a:bodyPr wrap="square" lIns="0" tIns="0" rIns="0" bIns="0" rtlCol="0" anchor="ctr"/>
          <a:lstStyle/>
          <a:p>
            <a:pPr indent="0" marL="0">
              <a:buNone/>
            </a:pPr>
            <a:r>
              <a:rPr lang="en-US" sz="1150" b="1" dirty="0">
                <a:solidFill>
                  <a:srgbClr val="1E3760"/>
                </a:solidFill>
                <a:latin typeface="Calibri" pitchFamily="34" charset="0"/>
                <a:ea typeface="Calibri" pitchFamily="34" charset="-122"/>
                <a:cs typeface="Calibri" pitchFamily="34" charset="-120"/>
              </a:rPr>
              <a:t>Bang-bang steering with a ramped pivot</a:t>
            </a:r>
            <a:pPr indent="0" marL="0">
              <a:buNone/>
            </a:pPr>
            <a:r>
              <a:rPr lang="en-US" sz="1150" dirty="0">
                <a:solidFill>
                  <a:srgbClr val="26344A"/>
                </a:solidFill>
                <a:latin typeface="Calibri" pitchFamily="34" charset="0"/>
                <a:ea typeface="Calibri" pitchFamily="34" charset="-122"/>
                <a:cs typeface="Calibri" pitchFamily="34" charset="-120"/>
              </a:rPr>
              <a:t> — the longer the line is lost, the harder it corrects; motors get a kick-start to break friction.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3  ·  SOFTWARE &amp; CONTROL</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Obstacle Avoidance — the V-Dogleg</a:t>
            </a:r>
            <a:endParaRPr lang="en-US" sz="2900" dirty="0"/>
          </a:p>
        </p:txBody>
      </p:sp>
      <p:sp>
        <p:nvSpPr>
          <p:cNvPr id="4" name="Shape 2"/>
          <p:cNvSpPr/>
          <p:nvPr/>
        </p:nvSpPr>
        <p:spPr>
          <a:xfrm>
            <a:off x="393192" y="1581912"/>
            <a:ext cx="5294376" cy="2722156"/>
          </a:xfrm>
          <a:prstGeom prst="roundRect">
            <a:avLst>
              <a:gd name="adj" fmla="val 2015"/>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pic>
        <p:nvPicPr>
          <p:cNvPr id="5" name="Image 0" descr="/home/claude/report/assets/fig3_dogleg.png">    </p:cNvPr>
          <p:cNvPicPr>
            <a:picLocks noChangeAspect="1"/>
          </p:cNvPicPr>
          <p:nvPr/>
        </p:nvPicPr>
        <p:blipFill>
          <a:blip r:embed="rId1"/>
          <a:stretch>
            <a:fillRect/>
          </a:stretch>
        </p:blipFill>
        <p:spPr>
          <a:xfrm>
            <a:off x="502920" y="1691640"/>
            <a:ext cx="5074920" cy="2502700"/>
          </a:xfrm>
          <a:prstGeom prst="rect">
            <a:avLst/>
          </a:prstGeom>
        </p:spPr>
      </p:pic>
      <p:sp>
        <p:nvSpPr>
          <p:cNvPr id="6" name="Text 3"/>
          <p:cNvSpPr/>
          <p:nvPr/>
        </p:nvSpPr>
        <p:spPr>
          <a:xfrm>
            <a:off x="502920" y="4358932"/>
            <a:ext cx="5074920" cy="274320"/>
          </a:xfrm>
          <a:prstGeom prst="rect">
            <a:avLst/>
          </a:prstGeom>
          <a:noFill/>
          <a:ln/>
        </p:spPr>
        <p:txBody>
          <a:bodyPr wrap="square" lIns="0" tIns="0" rIns="0" bIns="0" rtlCol="0" anchor="ctr"/>
          <a:lstStyle/>
          <a:p>
            <a:pPr algn="ctr" indent="0" marL="0">
              <a:buNone/>
            </a:pPr>
            <a:r>
              <a:rPr lang="en-US" sz="1050" i="1" dirty="0">
                <a:solidFill>
                  <a:srgbClr val="5C6B82"/>
                </a:solidFill>
                <a:latin typeface="Calibri" pitchFamily="34" charset="0"/>
                <a:ea typeface="Calibri" pitchFamily="34" charset="-122"/>
                <a:cs typeface="Calibri" pitchFamily="34" charset="-120"/>
              </a:rPr>
              <a:t>Top-down path; the robot always steps to the right of the obstacle</a:t>
            </a:r>
            <a:endParaRPr lang="en-US" sz="1050" dirty="0"/>
          </a:p>
        </p:txBody>
      </p:sp>
      <p:sp>
        <p:nvSpPr>
          <p:cNvPr id="7" name="Text 4"/>
          <p:cNvSpPr/>
          <p:nvPr/>
        </p:nvSpPr>
        <p:spPr>
          <a:xfrm>
            <a:off x="5852160" y="1627632"/>
            <a:ext cx="2880360" cy="365760"/>
          </a:xfrm>
          <a:prstGeom prst="rect">
            <a:avLst/>
          </a:prstGeom>
          <a:noFill/>
          <a:ln/>
        </p:spPr>
        <p:txBody>
          <a:bodyPr wrap="square" lIns="0" tIns="0" rIns="0" bIns="0" rtlCol="0" anchor="ctr"/>
          <a:lstStyle/>
          <a:p>
            <a:pPr indent="0" marL="0">
              <a:buNone/>
            </a:pPr>
            <a:r>
              <a:rPr lang="en-US" sz="1400" b="1" dirty="0">
                <a:solidFill>
                  <a:srgbClr val="1E3760"/>
                </a:solidFill>
                <a:latin typeface="Calibri" pitchFamily="34" charset="0"/>
                <a:ea typeface="Calibri" pitchFamily="34" charset="-122"/>
                <a:cs typeface="Calibri" pitchFamily="34" charset="-120"/>
              </a:rPr>
              <a:t>Three phases</a:t>
            </a:r>
            <a:endParaRPr lang="en-US" sz="1400" dirty="0"/>
          </a:p>
        </p:txBody>
      </p:sp>
      <p:sp>
        <p:nvSpPr>
          <p:cNvPr id="8" name="Shape 5"/>
          <p:cNvSpPr/>
          <p:nvPr/>
        </p:nvSpPr>
        <p:spPr>
          <a:xfrm>
            <a:off x="5852160" y="2121408"/>
            <a:ext cx="402336" cy="402336"/>
          </a:xfrm>
          <a:prstGeom prst="ellipse">
            <a:avLst/>
          </a:prstGeom>
          <a:solidFill>
            <a:srgbClr val="0FA3A3"/>
          </a:solidFill>
          <a:ln/>
        </p:spPr>
      </p:sp>
      <p:sp>
        <p:nvSpPr>
          <p:cNvPr id="9" name="Text 6"/>
          <p:cNvSpPr/>
          <p:nvPr/>
        </p:nvSpPr>
        <p:spPr>
          <a:xfrm>
            <a:off x="5852160" y="21214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6400800" y="2066544"/>
            <a:ext cx="2331720" cy="566928"/>
          </a:xfrm>
          <a:prstGeom prst="rect">
            <a:avLst/>
          </a:prstGeom>
          <a:noFill/>
          <a:ln/>
        </p:spPr>
        <p:txBody>
          <a:bodyPr wrap="square" lIns="0" tIns="0" rIns="0" bIns="0" rtlCol="0" anchor="ctr"/>
          <a:lstStyle/>
          <a:p>
            <a:pPr indent="0" marL="0">
              <a:buNone/>
            </a:pPr>
            <a:r>
              <a:rPr lang="en-US" sz="1250" b="1" dirty="0">
                <a:solidFill>
                  <a:srgbClr val="1E3760"/>
                </a:solidFill>
                <a:latin typeface="Calibri" pitchFamily="34" charset="0"/>
                <a:ea typeface="Calibri" pitchFamily="34" charset="-122"/>
                <a:cs typeface="Calibri" pitchFamily="34" charset="-120"/>
              </a:rPr>
              <a:t>Pivot away</a:t>
            </a:r>
            <a:endParaRPr lang="en-US" sz="1250" dirty="0"/>
          </a:p>
          <a:p>
            <a:pPr indent="0" marL="0">
              <a:buNone/>
            </a:pPr>
            <a:r>
              <a:rPr lang="en-US" sz="1100" dirty="0">
                <a:solidFill>
                  <a:srgbClr val="26344A"/>
                </a:solidFill>
                <a:latin typeface="Calibri" pitchFamily="34" charset="0"/>
                <a:ea typeface="Calibri" pitchFamily="34" charset="-122"/>
                <a:cs typeface="Calibri" pitchFamily="34" charset="-120"/>
              </a:rPr>
              <a:t>turn ~45° off the line, clear of the obstacle</a:t>
            </a:r>
            <a:endParaRPr lang="en-US" sz="1250" dirty="0"/>
          </a:p>
        </p:txBody>
      </p:sp>
      <p:sp>
        <p:nvSpPr>
          <p:cNvPr id="11" name="Shape 8"/>
          <p:cNvSpPr/>
          <p:nvPr/>
        </p:nvSpPr>
        <p:spPr>
          <a:xfrm>
            <a:off x="5852160" y="2724912"/>
            <a:ext cx="402336" cy="402336"/>
          </a:xfrm>
          <a:prstGeom prst="ellipse">
            <a:avLst/>
          </a:prstGeom>
          <a:solidFill>
            <a:srgbClr val="0FA3A3"/>
          </a:solidFill>
          <a:ln/>
        </p:spPr>
      </p:sp>
      <p:sp>
        <p:nvSpPr>
          <p:cNvPr id="12" name="Text 9"/>
          <p:cNvSpPr/>
          <p:nvPr/>
        </p:nvSpPr>
        <p:spPr>
          <a:xfrm>
            <a:off x="5852160" y="2724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6400800" y="2670048"/>
            <a:ext cx="2331720" cy="566928"/>
          </a:xfrm>
          <a:prstGeom prst="rect">
            <a:avLst/>
          </a:prstGeom>
          <a:noFill/>
          <a:ln/>
        </p:spPr>
        <p:txBody>
          <a:bodyPr wrap="square" lIns="0" tIns="0" rIns="0" bIns="0" rtlCol="0" anchor="ctr"/>
          <a:lstStyle/>
          <a:p>
            <a:pPr indent="0" marL="0">
              <a:buNone/>
            </a:pPr>
            <a:r>
              <a:rPr lang="en-US" sz="1250" b="1" dirty="0">
                <a:solidFill>
                  <a:srgbClr val="1E3760"/>
                </a:solidFill>
                <a:latin typeface="Calibri" pitchFamily="34" charset="0"/>
                <a:ea typeface="Calibri" pitchFamily="34" charset="-122"/>
                <a:cs typeface="Calibri" pitchFamily="34" charset="-120"/>
              </a:rPr>
              <a:t>Straight pass</a:t>
            </a:r>
            <a:endParaRPr lang="en-US" sz="1250" dirty="0"/>
          </a:p>
          <a:p>
            <a:pPr indent="0" marL="0">
              <a:buNone/>
            </a:pPr>
            <a:r>
              <a:rPr lang="en-US" sz="1100" dirty="0">
                <a:solidFill>
                  <a:srgbClr val="26344A"/>
                </a:solidFill>
                <a:latin typeface="Calibri" pitchFamily="34" charset="0"/>
                <a:ea typeface="Calibri" pitchFamily="34" charset="-122"/>
                <a:cs typeface="Calibri" pitchFamily="34" charset="-120"/>
              </a:rPr>
              <a:t>drive past the side of the obstacle</a:t>
            </a:r>
            <a:endParaRPr lang="en-US" sz="1250" dirty="0"/>
          </a:p>
        </p:txBody>
      </p:sp>
      <p:sp>
        <p:nvSpPr>
          <p:cNvPr id="14" name="Shape 11"/>
          <p:cNvSpPr/>
          <p:nvPr/>
        </p:nvSpPr>
        <p:spPr>
          <a:xfrm>
            <a:off x="5852160" y="3328416"/>
            <a:ext cx="402336" cy="402336"/>
          </a:xfrm>
          <a:prstGeom prst="ellipse">
            <a:avLst/>
          </a:prstGeom>
          <a:solidFill>
            <a:srgbClr val="0FA3A3"/>
          </a:solidFill>
          <a:ln/>
        </p:spPr>
      </p:sp>
      <p:sp>
        <p:nvSpPr>
          <p:cNvPr id="15" name="Text 12"/>
          <p:cNvSpPr/>
          <p:nvPr/>
        </p:nvSpPr>
        <p:spPr>
          <a:xfrm>
            <a:off x="5852160" y="33284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6400800" y="3273552"/>
            <a:ext cx="2331720" cy="566928"/>
          </a:xfrm>
          <a:prstGeom prst="rect">
            <a:avLst/>
          </a:prstGeom>
          <a:noFill/>
          <a:ln/>
        </p:spPr>
        <p:txBody>
          <a:bodyPr wrap="square" lIns="0" tIns="0" rIns="0" bIns="0" rtlCol="0" anchor="ctr"/>
          <a:lstStyle/>
          <a:p>
            <a:pPr indent="0" marL="0">
              <a:buNone/>
            </a:pPr>
            <a:r>
              <a:rPr lang="en-US" sz="1250" b="1" dirty="0">
                <a:solidFill>
                  <a:srgbClr val="1E3760"/>
                </a:solidFill>
                <a:latin typeface="Calibri" pitchFamily="34" charset="0"/>
                <a:ea typeface="Calibri" pitchFamily="34" charset="-122"/>
                <a:cs typeface="Calibri" pitchFamily="34" charset="-120"/>
              </a:rPr>
              <a:t>Turn back</a:t>
            </a:r>
            <a:endParaRPr lang="en-US" sz="1250" dirty="0"/>
          </a:p>
          <a:p>
            <a:pPr indent="0" marL="0">
              <a:buNone/>
            </a:pPr>
            <a:r>
              <a:rPr lang="en-US" sz="1100" dirty="0">
                <a:solidFill>
                  <a:srgbClr val="26344A"/>
                </a:solidFill>
                <a:latin typeface="Calibri" pitchFamily="34" charset="0"/>
                <a:ea typeface="Calibri" pitchFamily="34" charset="-122"/>
                <a:cs typeface="Calibri" pitchFamily="34" charset="-120"/>
              </a:rPr>
              <a:t>re-acquire the line, then resume following</a:t>
            </a:r>
            <a:endParaRPr lang="en-US" sz="1250" dirty="0"/>
          </a:p>
        </p:txBody>
      </p:sp>
      <p:sp>
        <p:nvSpPr>
          <p:cNvPr id="17" name="Shape 14"/>
          <p:cNvSpPr/>
          <p:nvPr/>
        </p:nvSpPr>
        <p:spPr>
          <a:xfrm>
            <a:off x="5852160" y="4023360"/>
            <a:ext cx="2880360" cy="868680"/>
          </a:xfrm>
          <a:prstGeom prst="roundRect">
            <a:avLst>
              <a:gd name="adj" fmla="val 7368"/>
            </a:avLst>
          </a:prstGeom>
          <a:solidFill>
            <a:srgbClr val="EFF4F9"/>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8" name="Shape 15"/>
          <p:cNvSpPr/>
          <p:nvPr/>
        </p:nvSpPr>
        <p:spPr>
          <a:xfrm>
            <a:off x="6071616" y="4224528"/>
            <a:ext cx="420624" cy="420624"/>
          </a:xfrm>
          <a:prstGeom prst="ellipse">
            <a:avLst/>
          </a:prstGeom>
          <a:solidFill>
            <a:srgbClr val="0FA3A3"/>
          </a:solidFill>
          <a:ln/>
        </p:spPr>
      </p:sp>
      <p:pic>
        <p:nvPicPr>
          <p:cNvPr id="19" name="Image 1" descr="preencoded.png">    </p:cNvPr>
          <p:cNvPicPr>
            <a:picLocks noChangeAspect="1"/>
          </p:cNvPicPr>
          <p:nvPr/>
        </p:nvPicPr>
        <p:blipFill>
          <a:blip r:embed="rId2"/>
          <a:stretch>
            <a:fillRect/>
          </a:stretch>
        </p:blipFill>
        <p:spPr>
          <a:xfrm>
            <a:off x="6176772" y="4329684"/>
            <a:ext cx="210312" cy="210312"/>
          </a:xfrm>
          <a:prstGeom prst="rect">
            <a:avLst/>
          </a:prstGeom>
        </p:spPr>
      </p:pic>
      <p:sp>
        <p:nvSpPr>
          <p:cNvPr id="20" name="Text 16"/>
          <p:cNvSpPr/>
          <p:nvPr/>
        </p:nvSpPr>
        <p:spPr>
          <a:xfrm>
            <a:off x="6601968" y="4023360"/>
            <a:ext cx="2011680" cy="868680"/>
          </a:xfrm>
          <a:prstGeom prst="rect">
            <a:avLst/>
          </a:prstGeom>
          <a:noFill/>
          <a:ln/>
        </p:spPr>
        <p:txBody>
          <a:bodyPr wrap="square" lIns="0" tIns="0" rIns="0" bIns="0" rtlCol="0" anchor="ctr"/>
          <a:lstStyle/>
          <a:p>
            <a:pPr indent="0" marL="0">
              <a:buNone/>
            </a:pPr>
            <a:r>
              <a:rPr lang="en-US" sz="1050" b="1" dirty="0">
                <a:solidFill>
                  <a:srgbClr val="1E3760"/>
                </a:solidFill>
                <a:latin typeface="Calibri" pitchFamily="34" charset="0"/>
                <a:ea typeface="Calibri" pitchFamily="34" charset="-122"/>
                <a:cs typeface="Calibri" pitchFamily="34" charset="-120"/>
              </a:rPr>
              <a:t>Closed-loop return</a:t>
            </a:r>
            <a:pPr indent="0" marL="0">
              <a:buNone/>
            </a:pPr>
            <a:r>
              <a:rPr lang="en-US" sz="1050" dirty="0">
                <a:solidFill>
                  <a:srgbClr val="26344A"/>
                </a:solidFill>
                <a:latin typeface="Calibri" pitchFamily="34" charset="0"/>
                <a:ea typeface="Calibri" pitchFamily="34" charset="-122"/>
                <a:cs typeface="Calibri" pitchFamily="34" charset="-120"/>
              </a:rPr>
              <a:t> — stops turning the instant the line is found. Beat a half-circle arc and a box detour on the floor; a timeout failsafe prevents endless circling.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4  ·  CHALLENGES &amp; RESULTS</a:t>
            </a:r>
            <a:endParaRPr lang="en-US" sz="1250" dirty="0"/>
          </a:p>
        </p:txBody>
      </p:sp>
      <p:sp>
        <p:nvSpPr>
          <p:cNvPr id="3" name="Text 1"/>
          <p:cNvSpPr/>
          <p:nvPr/>
        </p:nvSpPr>
        <p:spPr>
          <a:xfrm>
            <a:off x="475488" y="676656"/>
            <a:ext cx="8229600" cy="566928"/>
          </a:xfrm>
          <a:prstGeom prst="rect">
            <a:avLst/>
          </a:prstGeom>
          <a:noFill/>
          <a:ln/>
        </p:spPr>
        <p:txBody>
          <a:bodyPr wrap="square" lIns="0" tIns="0" rIns="0" bIns="0" rtlCol="0" anchor="ctr"/>
          <a:lstStyle/>
          <a:p>
            <a:pPr indent="0" marL="0">
              <a:buNone/>
            </a:pPr>
            <a:r>
              <a:rPr lang="en-US" sz="2900" b="1" dirty="0">
                <a:solidFill>
                  <a:srgbClr val="1E3760"/>
                </a:solidFill>
                <a:latin typeface="Cambria" pitchFamily="34" charset="0"/>
                <a:ea typeface="Cambria" pitchFamily="34" charset="-122"/>
                <a:cs typeface="Cambria" pitchFamily="34" charset="-120"/>
              </a:rPr>
              <a:t>Problems We Solved on the Floor</a:t>
            </a:r>
            <a:endParaRPr lang="en-US" sz="2900" dirty="0"/>
          </a:p>
        </p:txBody>
      </p:sp>
      <p:sp>
        <p:nvSpPr>
          <p:cNvPr id="4" name="Shape 2"/>
          <p:cNvSpPr/>
          <p:nvPr/>
        </p:nvSpPr>
        <p:spPr>
          <a:xfrm>
            <a:off x="502920" y="1517904"/>
            <a:ext cx="4069080" cy="1481328"/>
          </a:xfrm>
          <a:prstGeom prst="roundRect">
            <a:avLst>
              <a:gd name="adj" fmla="val 4321"/>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5" name="Shape 3"/>
          <p:cNvSpPr/>
          <p:nvPr/>
        </p:nvSpPr>
        <p:spPr>
          <a:xfrm>
            <a:off x="758952" y="1773936"/>
            <a:ext cx="548640" cy="548640"/>
          </a:xfrm>
          <a:prstGeom prst="ellipse">
            <a:avLst/>
          </a:prstGeom>
          <a:solidFill>
            <a:srgbClr val="0FA3A3"/>
          </a:solidFill>
          <a:ln/>
        </p:spPr>
      </p:sp>
      <p:pic>
        <p:nvPicPr>
          <p:cNvPr id="6" name="Image 0" descr="preencoded.png">    </p:cNvPr>
          <p:cNvPicPr>
            <a:picLocks noChangeAspect="1"/>
          </p:cNvPicPr>
          <p:nvPr/>
        </p:nvPicPr>
        <p:blipFill>
          <a:blip r:embed="rId1"/>
          <a:stretch>
            <a:fillRect/>
          </a:stretch>
        </p:blipFill>
        <p:spPr>
          <a:xfrm>
            <a:off x="896112" y="1911096"/>
            <a:ext cx="274320" cy="274320"/>
          </a:xfrm>
          <a:prstGeom prst="rect">
            <a:avLst/>
          </a:prstGeom>
        </p:spPr>
      </p:pic>
      <p:sp>
        <p:nvSpPr>
          <p:cNvPr id="7" name="Text 4"/>
          <p:cNvSpPr/>
          <p:nvPr/>
        </p:nvSpPr>
        <p:spPr>
          <a:xfrm>
            <a:off x="1463040" y="1755648"/>
            <a:ext cx="2926080" cy="4114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Motor dead-zone</a:t>
            </a:r>
            <a:endParaRPr lang="en-US" sz="1500" dirty="0"/>
          </a:p>
        </p:txBody>
      </p:sp>
      <p:sp>
        <p:nvSpPr>
          <p:cNvPr id="8" name="Text 5"/>
          <p:cNvSpPr/>
          <p:nvPr/>
        </p:nvSpPr>
        <p:spPr>
          <a:xfrm>
            <a:off x="777240" y="2267712"/>
            <a:ext cx="3538728" cy="658368"/>
          </a:xfrm>
          <a:prstGeom prst="rect">
            <a:avLst/>
          </a:prstGeom>
          <a:noFill/>
          <a:ln/>
        </p:spPr>
        <p:txBody>
          <a:bodyPr wrap="square" lIns="0" tIns="0" rIns="0" bIns="0" rtlCol="0" anchor="ctr"/>
          <a:lstStyle/>
          <a:p>
            <a:pPr indent="0" marL="0">
              <a:buNone/>
            </a:pPr>
            <a:r>
              <a:rPr lang="en-US" sz="1150" dirty="0">
                <a:solidFill>
                  <a:srgbClr val="26344A"/>
                </a:solidFill>
                <a:latin typeface="Calibri" pitchFamily="34" charset="0"/>
                <a:ea typeface="Calibri" pitchFamily="34" charset="-122"/>
                <a:cs typeface="Calibri" pitchFamily="34" charset="-120"/>
              </a:rPr>
              <a:t>Below ~40 PWM the motors stalled. A kick-start burst breaks static friction — it was friction, not a weak battery.</a:t>
            </a:r>
            <a:endParaRPr lang="en-US" sz="1150" dirty="0"/>
          </a:p>
        </p:txBody>
      </p:sp>
      <p:sp>
        <p:nvSpPr>
          <p:cNvPr id="9" name="Shape 6"/>
          <p:cNvSpPr/>
          <p:nvPr/>
        </p:nvSpPr>
        <p:spPr>
          <a:xfrm>
            <a:off x="4754880" y="1517904"/>
            <a:ext cx="4069080" cy="1481328"/>
          </a:xfrm>
          <a:prstGeom prst="roundRect">
            <a:avLst>
              <a:gd name="adj" fmla="val 4321"/>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0" name="Shape 7"/>
          <p:cNvSpPr/>
          <p:nvPr/>
        </p:nvSpPr>
        <p:spPr>
          <a:xfrm>
            <a:off x="5010912" y="1773936"/>
            <a:ext cx="548640" cy="548640"/>
          </a:xfrm>
          <a:prstGeom prst="ellipse">
            <a:avLst/>
          </a:prstGeom>
          <a:solidFill>
            <a:srgbClr val="1E3760"/>
          </a:solidFill>
          <a:ln/>
        </p:spPr>
      </p:sp>
      <p:pic>
        <p:nvPicPr>
          <p:cNvPr id="11" name="Image 1" descr="preencoded.png">    </p:cNvPr>
          <p:cNvPicPr>
            <a:picLocks noChangeAspect="1"/>
          </p:cNvPicPr>
          <p:nvPr/>
        </p:nvPicPr>
        <p:blipFill>
          <a:blip r:embed="rId2"/>
          <a:stretch>
            <a:fillRect/>
          </a:stretch>
        </p:blipFill>
        <p:spPr>
          <a:xfrm>
            <a:off x="5148072" y="1911096"/>
            <a:ext cx="274320" cy="274320"/>
          </a:xfrm>
          <a:prstGeom prst="rect">
            <a:avLst/>
          </a:prstGeom>
        </p:spPr>
      </p:pic>
      <p:sp>
        <p:nvSpPr>
          <p:cNvPr id="12" name="Text 8"/>
          <p:cNvSpPr/>
          <p:nvPr/>
        </p:nvSpPr>
        <p:spPr>
          <a:xfrm>
            <a:off x="5715000" y="1755648"/>
            <a:ext cx="2926080" cy="4114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Inverted steering</a:t>
            </a:r>
            <a:endParaRPr lang="en-US" sz="1500" dirty="0"/>
          </a:p>
        </p:txBody>
      </p:sp>
      <p:sp>
        <p:nvSpPr>
          <p:cNvPr id="13" name="Text 9"/>
          <p:cNvSpPr/>
          <p:nvPr/>
        </p:nvSpPr>
        <p:spPr>
          <a:xfrm>
            <a:off x="5029200" y="2267712"/>
            <a:ext cx="3538728" cy="658368"/>
          </a:xfrm>
          <a:prstGeom prst="rect">
            <a:avLst/>
          </a:prstGeom>
          <a:noFill/>
          <a:ln/>
        </p:spPr>
        <p:txBody>
          <a:bodyPr wrap="square" lIns="0" tIns="0" rIns="0" bIns="0" rtlCol="0" anchor="ctr"/>
          <a:lstStyle/>
          <a:p>
            <a:pPr indent="0" marL="0">
              <a:buNone/>
            </a:pPr>
            <a:r>
              <a:rPr lang="en-US" sz="1150" dirty="0">
                <a:solidFill>
                  <a:srgbClr val="26344A"/>
                </a:solidFill>
                <a:latin typeface="Calibri" pitchFamily="34" charset="0"/>
                <a:ea typeface="Calibri" pitchFamily="34" charset="-122"/>
                <a:cs typeface="Calibri" pitchFamily="34" charset="-120"/>
              </a:rPr>
              <a:t>Turns ran backwards. Fixed in software and documented as an intentional chassis quirk.</a:t>
            </a:r>
            <a:endParaRPr lang="en-US" sz="1150" dirty="0"/>
          </a:p>
        </p:txBody>
      </p:sp>
      <p:sp>
        <p:nvSpPr>
          <p:cNvPr id="14" name="Shape 10"/>
          <p:cNvSpPr/>
          <p:nvPr/>
        </p:nvSpPr>
        <p:spPr>
          <a:xfrm>
            <a:off x="502920" y="3182112"/>
            <a:ext cx="4069080" cy="1481328"/>
          </a:xfrm>
          <a:prstGeom prst="roundRect">
            <a:avLst>
              <a:gd name="adj" fmla="val 4321"/>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15" name="Shape 11"/>
          <p:cNvSpPr/>
          <p:nvPr/>
        </p:nvSpPr>
        <p:spPr>
          <a:xfrm>
            <a:off x="758952" y="3438144"/>
            <a:ext cx="548640" cy="548640"/>
          </a:xfrm>
          <a:prstGeom prst="ellipse">
            <a:avLst/>
          </a:prstGeom>
          <a:solidFill>
            <a:srgbClr val="0FA3A3"/>
          </a:solidFill>
          <a:ln/>
        </p:spPr>
      </p:sp>
      <p:pic>
        <p:nvPicPr>
          <p:cNvPr id="16" name="Image 2" descr="preencoded.png">    </p:cNvPr>
          <p:cNvPicPr>
            <a:picLocks noChangeAspect="1"/>
          </p:cNvPicPr>
          <p:nvPr/>
        </p:nvPicPr>
        <p:blipFill>
          <a:blip r:embed="rId3"/>
          <a:stretch>
            <a:fillRect/>
          </a:stretch>
        </p:blipFill>
        <p:spPr>
          <a:xfrm>
            <a:off x="896112" y="3575304"/>
            <a:ext cx="274320" cy="274320"/>
          </a:xfrm>
          <a:prstGeom prst="rect">
            <a:avLst/>
          </a:prstGeom>
        </p:spPr>
      </p:pic>
      <p:sp>
        <p:nvSpPr>
          <p:cNvPr id="17" name="Text 12"/>
          <p:cNvSpPr/>
          <p:nvPr/>
        </p:nvSpPr>
        <p:spPr>
          <a:xfrm>
            <a:off x="1463040" y="3419856"/>
            <a:ext cx="2926080" cy="4114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Counter-intuitive arc</a:t>
            </a:r>
            <a:endParaRPr lang="en-US" sz="1500" dirty="0"/>
          </a:p>
        </p:txBody>
      </p:sp>
      <p:sp>
        <p:nvSpPr>
          <p:cNvPr id="18" name="Text 13"/>
          <p:cNvSpPr/>
          <p:nvPr/>
        </p:nvSpPr>
        <p:spPr>
          <a:xfrm>
            <a:off x="777240" y="3931920"/>
            <a:ext cx="3538728" cy="658368"/>
          </a:xfrm>
          <a:prstGeom prst="rect">
            <a:avLst/>
          </a:prstGeom>
          <a:noFill/>
          <a:ln/>
        </p:spPr>
        <p:txBody>
          <a:bodyPr wrap="square" lIns="0" tIns="0" rIns="0" bIns="0" rtlCol="0" anchor="ctr"/>
          <a:lstStyle/>
          <a:p>
            <a:pPr indent="0" marL="0">
              <a:buNone/>
            </a:pPr>
            <a:r>
              <a:rPr lang="en-US" sz="1150" dirty="0">
                <a:solidFill>
                  <a:srgbClr val="26344A"/>
                </a:solidFill>
                <a:latin typeface="Calibri" pitchFamily="34" charset="0"/>
                <a:ea typeface="Calibri" pitchFamily="34" charset="-122"/>
                <a:cs typeface="Calibri" pitchFamily="34" charset="-120"/>
              </a:rPr>
              <a:t>A wider speed gap between the wheels gives a tighter turn — the opposite of our first guess. Corrected by testing.</a:t>
            </a:r>
            <a:endParaRPr lang="en-US" sz="1150" dirty="0"/>
          </a:p>
        </p:txBody>
      </p:sp>
      <p:sp>
        <p:nvSpPr>
          <p:cNvPr id="19" name="Shape 14"/>
          <p:cNvSpPr/>
          <p:nvPr/>
        </p:nvSpPr>
        <p:spPr>
          <a:xfrm>
            <a:off x="4754880" y="3182112"/>
            <a:ext cx="4069080" cy="1481328"/>
          </a:xfrm>
          <a:prstGeom prst="roundRect">
            <a:avLst>
              <a:gd name="adj" fmla="val 4321"/>
            </a:avLst>
          </a:prstGeom>
          <a:solidFill>
            <a:srgbClr val="FFFFFF"/>
          </a:solidFill>
          <a:ln w="12700">
            <a:solidFill>
              <a:srgbClr val="D7E1ED"/>
            </a:solidFill>
            <a:prstDash val="solid"/>
          </a:ln>
          <a:effectLst>
            <a:outerShdw sx="100000" sy="100000" kx="0" ky="0" algn="bl" rotWithShape="0" blurRad="88900" dist="38100" dir="5400000">
              <a:srgbClr val="1A2A45">
                <a:alpha val="16000"/>
              </a:srgbClr>
            </a:outerShdw>
          </a:effectLst>
        </p:spPr>
      </p:sp>
      <p:sp>
        <p:nvSpPr>
          <p:cNvPr id="20" name="Shape 15"/>
          <p:cNvSpPr/>
          <p:nvPr/>
        </p:nvSpPr>
        <p:spPr>
          <a:xfrm>
            <a:off x="5010912" y="3438144"/>
            <a:ext cx="548640" cy="548640"/>
          </a:xfrm>
          <a:prstGeom prst="ellipse">
            <a:avLst/>
          </a:prstGeom>
          <a:solidFill>
            <a:srgbClr val="E08A2E"/>
          </a:solidFill>
          <a:ln/>
        </p:spPr>
      </p:sp>
      <p:pic>
        <p:nvPicPr>
          <p:cNvPr id="21" name="Image 3" descr="preencoded.png">    </p:cNvPr>
          <p:cNvPicPr>
            <a:picLocks noChangeAspect="1"/>
          </p:cNvPicPr>
          <p:nvPr/>
        </p:nvPicPr>
        <p:blipFill>
          <a:blip r:embed="rId4"/>
          <a:stretch>
            <a:fillRect/>
          </a:stretch>
        </p:blipFill>
        <p:spPr>
          <a:xfrm>
            <a:off x="5148072" y="3575304"/>
            <a:ext cx="274320" cy="274320"/>
          </a:xfrm>
          <a:prstGeom prst="rect">
            <a:avLst/>
          </a:prstGeom>
        </p:spPr>
      </p:pic>
      <p:sp>
        <p:nvSpPr>
          <p:cNvPr id="22" name="Text 16"/>
          <p:cNvSpPr/>
          <p:nvPr/>
        </p:nvSpPr>
        <p:spPr>
          <a:xfrm>
            <a:off x="5715000" y="3419856"/>
            <a:ext cx="2926080" cy="411480"/>
          </a:xfrm>
          <a:prstGeom prst="rect">
            <a:avLst/>
          </a:prstGeom>
          <a:noFill/>
          <a:ln/>
        </p:spPr>
        <p:txBody>
          <a:bodyPr wrap="square" lIns="0" tIns="0" rIns="0" bIns="0" rtlCol="0" anchor="ctr"/>
          <a:lstStyle/>
          <a:p>
            <a:pPr indent="0" marL="0">
              <a:buNone/>
            </a:pPr>
            <a:r>
              <a:rPr lang="en-US" sz="1500" b="1" dirty="0">
                <a:solidFill>
                  <a:srgbClr val="1E3760"/>
                </a:solidFill>
                <a:latin typeface="Calibri" pitchFamily="34" charset="0"/>
                <a:ea typeface="Calibri" pitchFamily="34" charset="-122"/>
                <a:cs typeface="Calibri" pitchFamily="34" charset="-120"/>
              </a:rPr>
              <a:t>No realistic simulator</a:t>
            </a:r>
            <a:endParaRPr lang="en-US" sz="1500" dirty="0"/>
          </a:p>
        </p:txBody>
      </p:sp>
      <p:sp>
        <p:nvSpPr>
          <p:cNvPr id="23" name="Text 17"/>
          <p:cNvSpPr/>
          <p:nvPr/>
        </p:nvSpPr>
        <p:spPr>
          <a:xfrm>
            <a:off x="5029200" y="3931920"/>
            <a:ext cx="3538728" cy="658368"/>
          </a:xfrm>
          <a:prstGeom prst="rect">
            <a:avLst/>
          </a:prstGeom>
          <a:noFill/>
          <a:ln/>
        </p:spPr>
        <p:txBody>
          <a:bodyPr wrap="square" lIns="0" tIns="0" rIns="0" bIns="0" rtlCol="0" anchor="ctr"/>
          <a:lstStyle/>
          <a:p>
            <a:pPr indent="0" marL="0">
              <a:buNone/>
            </a:pPr>
            <a:r>
              <a:rPr lang="en-US" sz="1150" dirty="0">
                <a:solidFill>
                  <a:srgbClr val="26344A"/>
                </a:solidFill>
                <a:latin typeface="Calibri" pitchFamily="34" charset="0"/>
                <a:ea typeface="Calibri" pitchFamily="34" charset="-122"/>
                <a:cs typeface="Calibri" pitchFamily="34" charset="-120"/>
              </a:rPr>
              <a:t>The kit's quirks don't appear in idealised sim, so everything was validated on the real track.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50" b="1" spc="200" kern="0" dirty="0">
                <a:solidFill>
                  <a:srgbClr val="0FA3A3"/>
                </a:solidFill>
                <a:latin typeface="Calibri" pitchFamily="34" charset="0"/>
                <a:ea typeface="Calibri" pitchFamily="34" charset="-122"/>
                <a:cs typeface="Calibri" pitchFamily="34" charset="-120"/>
              </a:rPr>
              <a:t>PART 4  ·  CHALLENGES &amp; RESULTS</a:t>
            </a:r>
            <a:endParaRPr lang="en-US" sz="1250" dirty="0"/>
          </a:p>
        </p:txBody>
      </p:sp>
      <p:sp>
        <p:nvSpPr>
          <p:cNvPr id="3" name="Text 1"/>
          <p:cNvSpPr/>
          <p:nvPr/>
        </p:nvSpPr>
        <p:spPr>
          <a:xfrm>
            <a:off x="475488" y="676656"/>
            <a:ext cx="8229600" cy="5486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Results &amp; What's Next</a:t>
            </a:r>
            <a:endParaRPr lang="en-US" sz="2900" dirty="0"/>
          </a:p>
        </p:txBody>
      </p:sp>
      <p:sp>
        <p:nvSpPr>
          <p:cNvPr id="4" name="Text 2"/>
          <p:cNvSpPr/>
          <p:nvPr/>
        </p:nvSpPr>
        <p:spPr>
          <a:xfrm>
            <a:off x="548640" y="1463040"/>
            <a:ext cx="3931920" cy="365760"/>
          </a:xfrm>
          <a:prstGeom prst="rect">
            <a:avLst/>
          </a:prstGeom>
          <a:noFill/>
          <a:ln/>
        </p:spPr>
        <p:txBody>
          <a:bodyPr wrap="square" lIns="0" tIns="0" rIns="0" bIns="0" rtlCol="0" anchor="ctr"/>
          <a:lstStyle/>
          <a:p>
            <a:pPr indent="0" marL="0">
              <a:buNone/>
            </a:pPr>
            <a:r>
              <a:rPr lang="en-US" sz="1500" b="1" dirty="0">
                <a:solidFill>
                  <a:srgbClr val="0FA3A3"/>
                </a:solidFill>
                <a:latin typeface="Calibri" pitchFamily="34" charset="0"/>
                <a:ea typeface="Calibri" pitchFamily="34" charset="-122"/>
                <a:cs typeface="Calibri" pitchFamily="34" charset="-120"/>
              </a:rPr>
              <a:t>Achieved</a:t>
            </a:r>
            <a:endParaRPr lang="en-US" sz="1500" dirty="0"/>
          </a:p>
        </p:txBody>
      </p:sp>
      <p:pic>
        <p:nvPicPr>
          <p:cNvPr id="5" name="Image 0" descr="preencoded.png">    </p:cNvPr>
          <p:cNvPicPr>
            <a:picLocks noChangeAspect="1"/>
          </p:cNvPicPr>
          <p:nvPr/>
        </p:nvPicPr>
        <p:blipFill>
          <a:blip r:embed="rId1"/>
          <a:stretch>
            <a:fillRect/>
          </a:stretch>
        </p:blipFill>
        <p:spPr>
          <a:xfrm>
            <a:off x="566928" y="1920240"/>
            <a:ext cx="237744" cy="237744"/>
          </a:xfrm>
          <a:prstGeom prst="rect">
            <a:avLst/>
          </a:prstGeom>
        </p:spPr>
      </p:pic>
      <p:sp>
        <p:nvSpPr>
          <p:cNvPr id="6" name="Text 3"/>
          <p:cNvSpPr/>
          <p:nvPr/>
        </p:nvSpPr>
        <p:spPr>
          <a:xfrm>
            <a:off x="896112" y="1865376"/>
            <a:ext cx="361188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Reliable line tracking on straights and curves</a:t>
            </a:r>
            <a:endParaRPr lang="en-US" sz="1250" dirty="0"/>
          </a:p>
        </p:txBody>
      </p:sp>
      <p:pic>
        <p:nvPicPr>
          <p:cNvPr id="7" name="Image 1" descr="preencoded.png">    </p:cNvPr>
          <p:cNvPicPr>
            <a:picLocks noChangeAspect="1"/>
          </p:cNvPicPr>
          <p:nvPr/>
        </p:nvPicPr>
        <p:blipFill>
          <a:blip r:embed="rId2"/>
          <a:stretch>
            <a:fillRect/>
          </a:stretch>
        </p:blipFill>
        <p:spPr>
          <a:xfrm>
            <a:off x="566928" y="2377440"/>
            <a:ext cx="237744" cy="237744"/>
          </a:xfrm>
          <a:prstGeom prst="rect">
            <a:avLst/>
          </a:prstGeom>
        </p:spPr>
      </p:pic>
      <p:sp>
        <p:nvSpPr>
          <p:cNvPr id="8" name="Text 4"/>
          <p:cNvSpPr/>
          <p:nvPr/>
        </p:nvSpPr>
        <p:spPr>
          <a:xfrm>
            <a:off x="896112" y="2322576"/>
            <a:ext cx="361188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Repeatable obstacle avoidance</a:t>
            </a:r>
            <a:endParaRPr lang="en-US" sz="1250" dirty="0"/>
          </a:p>
        </p:txBody>
      </p:sp>
      <p:pic>
        <p:nvPicPr>
          <p:cNvPr id="9" name="Image 2" descr="preencoded.png">    </p:cNvPr>
          <p:cNvPicPr>
            <a:picLocks noChangeAspect="1"/>
          </p:cNvPicPr>
          <p:nvPr/>
        </p:nvPicPr>
        <p:blipFill>
          <a:blip r:embed="rId3"/>
          <a:stretch>
            <a:fillRect/>
          </a:stretch>
        </p:blipFill>
        <p:spPr>
          <a:xfrm>
            <a:off x="566928" y="2834640"/>
            <a:ext cx="237744" cy="237744"/>
          </a:xfrm>
          <a:prstGeom prst="rect">
            <a:avLst/>
          </a:prstGeom>
        </p:spPr>
      </p:pic>
      <p:sp>
        <p:nvSpPr>
          <p:cNvPr id="10" name="Text 5"/>
          <p:cNvSpPr/>
          <p:nvPr/>
        </p:nvSpPr>
        <p:spPr>
          <a:xfrm>
            <a:off x="896112" y="2779776"/>
            <a:ext cx="361188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Dependable stop-line halting</a:t>
            </a:r>
            <a:endParaRPr lang="en-US" sz="1250" dirty="0"/>
          </a:p>
        </p:txBody>
      </p:sp>
      <p:pic>
        <p:nvPicPr>
          <p:cNvPr id="11" name="Image 3" descr="preencoded.png">    </p:cNvPr>
          <p:cNvPicPr>
            <a:picLocks noChangeAspect="1"/>
          </p:cNvPicPr>
          <p:nvPr/>
        </p:nvPicPr>
        <p:blipFill>
          <a:blip r:embed="rId4"/>
          <a:stretch>
            <a:fillRect/>
          </a:stretch>
        </p:blipFill>
        <p:spPr>
          <a:xfrm>
            <a:off x="566928" y="3291840"/>
            <a:ext cx="237744" cy="237744"/>
          </a:xfrm>
          <a:prstGeom prst="rect">
            <a:avLst/>
          </a:prstGeom>
        </p:spPr>
      </p:pic>
      <p:sp>
        <p:nvSpPr>
          <p:cNvPr id="12" name="Text 6"/>
          <p:cNvSpPr/>
          <p:nvPr/>
        </p:nvSpPr>
        <p:spPr>
          <a:xfrm>
            <a:off x="896112" y="3236976"/>
            <a:ext cx="361188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Full report, diagrams and source code</a:t>
            </a:r>
            <a:endParaRPr lang="en-US" sz="1250" dirty="0"/>
          </a:p>
        </p:txBody>
      </p:sp>
      <p:sp>
        <p:nvSpPr>
          <p:cNvPr id="13" name="Text 7"/>
          <p:cNvSpPr/>
          <p:nvPr/>
        </p:nvSpPr>
        <p:spPr>
          <a:xfrm>
            <a:off x="4800600" y="1463040"/>
            <a:ext cx="3840480" cy="365760"/>
          </a:xfrm>
          <a:prstGeom prst="rect">
            <a:avLst/>
          </a:prstGeom>
          <a:noFill/>
          <a:ln/>
        </p:spPr>
        <p:txBody>
          <a:bodyPr wrap="square" lIns="0" tIns="0" rIns="0" bIns="0" rtlCol="0" anchor="ctr"/>
          <a:lstStyle/>
          <a:p>
            <a:pPr indent="0" marL="0">
              <a:buNone/>
            </a:pPr>
            <a:r>
              <a:rPr lang="en-US" sz="1500" b="1" dirty="0">
                <a:solidFill>
                  <a:srgbClr val="0FA3A3"/>
                </a:solidFill>
                <a:latin typeface="Calibri" pitchFamily="34" charset="0"/>
                <a:ea typeface="Calibri" pitchFamily="34" charset="-122"/>
                <a:cs typeface="Calibri" pitchFamily="34" charset="-120"/>
              </a:rPr>
              <a:t>Future improvements</a:t>
            </a:r>
            <a:endParaRPr lang="en-US" sz="1500" dirty="0"/>
          </a:p>
        </p:txBody>
      </p:sp>
      <p:pic>
        <p:nvPicPr>
          <p:cNvPr id="14" name="Image 4" descr="preencoded.png">    </p:cNvPr>
          <p:cNvPicPr>
            <a:picLocks noChangeAspect="1"/>
          </p:cNvPicPr>
          <p:nvPr/>
        </p:nvPicPr>
        <p:blipFill>
          <a:blip r:embed="rId5"/>
          <a:stretch>
            <a:fillRect/>
          </a:stretch>
        </p:blipFill>
        <p:spPr>
          <a:xfrm>
            <a:off x="4818888" y="1929384"/>
            <a:ext cx="219456" cy="219456"/>
          </a:xfrm>
          <a:prstGeom prst="rect">
            <a:avLst/>
          </a:prstGeom>
        </p:spPr>
      </p:pic>
      <p:sp>
        <p:nvSpPr>
          <p:cNvPr id="15" name="Text 8"/>
          <p:cNvSpPr/>
          <p:nvPr/>
        </p:nvSpPr>
        <p:spPr>
          <a:xfrm>
            <a:off x="5120640" y="1865376"/>
            <a:ext cx="352044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PID control for smoother tight curves</a:t>
            </a:r>
            <a:endParaRPr lang="en-US" sz="1250" dirty="0"/>
          </a:p>
        </p:txBody>
      </p:sp>
      <p:pic>
        <p:nvPicPr>
          <p:cNvPr id="16" name="Image 5" descr="preencoded.png">    </p:cNvPr>
          <p:cNvPicPr>
            <a:picLocks noChangeAspect="1"/>
          </p:cNvPicPr>
          <p:nvPr/>
        </p:nvPicPr>
        <p:blipFill>
          <a:blip r:embed="rId6"/>
          <a:stretch>
            <a:fillRect/>
          </a:stretch>
        </p:blipFill>
        <p:spPr>
          <a:xfrm>
            <a:off x="4818888" y="2386584"/>
            <a:ext cx="219456" cy="219456"/>
          </a:xfrm>
          <a:prstGeom prst="rect">
            <a:avLst/>
          </a:prstGeom>
        </p:spPr>
      </p:pic>
      <p:sp>
        <p:nvSpPr>
          <p:cNvPr id="17" name="Text 9"/>
          <p:cNvSpPr/>
          <p:nvPr/>
        </p:nvSpPr>
        <p:spPr>
          <a:xfrm>
            <a:off x="5120640" y="2322576"/>
            <a:ext cx="352044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Wheel encoders for distance-based moves</a:t>
            </a:r>
            <a:endParaRPr lang="en-US" sz="1250" dirty="0"/>
          </a:p>
        </p:txBody>
      </p:sp>
      <p:pic>
        <p:nvPicPr>
          <p:cNvPr id="18" name="Image 6" descr="preencoded.png">    </p:cNvPr>
          <p:cNvPicPr>
            <a:picLocks noChangeAspect="1"/>
          </p:cNvPicPr>
          <p:nvPr/>
        </p:nvPicPr>
        <p:blipFill>
          <a:blip r:embed="rId7"/>
          <a:stretch>
            <a:fillRect/>
          </a:stretch>
        </p:blipFill>
        <p:spPr>
          <a:xfrm>
            <a:off x="4818888" y="2843784"/>
            <a:ext cx="219456" cy="219456"/>
          </a:xfrm>
          <a:prstGeom prst="rect">
            <a:avLst/>
          </a:prstGeom>
        </p:spPr>
      </p:pic>
      <p:sp>
        <p:nvSpPr>
          <p:cNvPr id="19" name="Text 10"/>
          <p:cNvSpPr/>
          <p:nvPr/>
        </p:nvSpPr>
        <p:spPr>
          <a:xfrm>
            <a:off x="5120640" y="2779776"/>
            <a:ext cx="352044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Adaptive IR thresholds for changing light</a:t>
            </a:r>
            <a:endParaRPr lang="en-US" sz="1250" dirty="0"/>
          </a:p>
        </p:txBody>
      </p:sp>
      <p:pic>
        <p:nvPicPr>
          <p:cNvPr id="20" name="Image 7" descr="preencoded.png">    </p:cNvPr>
          <p:cNvPicPr>
            <a:picLocks noChangeAspect="1"/>
          </p:cNvPicPr>
          <p:nvPr/>
        </p:nvPicPr>
        <p:blipFill>
          <a:blip r:embed="rId8"/>
          <a:stretch>
            <a:fillRect/>
          </a:stretch>
        </p:blipFill>
        <p:spPr>
          <a:xfrm>
            <a:off x="4818888" y="3300984"/>
            <a:ext cx="219456" cy="219456"/>
          </a:xfrm>
          <a:prstGeom prst="rect">
            <a:avLst/>
          </a:prstGeom>
        </p:spPr>
      </p:pic>
      <p:sp>
        <p:nvSpPr>
          <p:cNvPr id="21" name="Text 11"/>
          <p:cNvSpPr/>
          <p:nvPr/>
        </p:nvSpPr>
        <p:spPr>
          <a:xfrm>
            <a:off x="5120640" y="3236976"/>
            <a:ext cx="3520440" cy="384048"/>
          </a:xfrm>
          <a:prstGeom prst="rect">
            <a:avLst/>
          </a:prstGeom>
          <a:noFill/>
          <a:ln/>
        </p:spPr>
        <p:txBody>
          <a:bodyPr wrap="square" lIns="0" tIns="0" rIns="0" bIns="0" rtlCol="0" anchor="ctr"/>
          <a:lstStyle/>
          <a:p>
            <a:pPr indent="0" marL="0">
              <a:buNone/>
            </a:pPr>
            <a:r>
              <a:rPr lang="en-US" sz="1250" dirty="0">
                <a:solidFill>
                  <a:srgbClr val="EAF1FA"/>
                </a:solidFill>
                <a:latin typeface="Calibri" pitchFamily="34" charset="0"/>
                <a:ea typeface="Calibri" pitchFamily="34" charset="-122"/>
                <a:cs typeface="Calibri" pitchFamily="34" charset="-120"/>
              </a:rPr>
              <a:t>Ultrasonic width sensing per obstacle</a:t>
            </a:r>
            <a:endParaRPr lang="en-US" sz="1250" dirty="0"/>
          </a:p>
        </p:txBody>
      </p:sp>
      <p:sp>
        <p:nvSpPr>
          <p:cNvPr id="22" name="Shape 12"/>
          <p:cNvSpPr/>
          <p:nvPr/>
        </p:nvSpPr>
        <p:spPr>
          <a:xfrm>
            <a:off x="393192" y="4041648"/>
            <a:ext cx="1965960" cy="786384"/>
          </a:xfrm>
          <a:prstGeom prst="roundRect">
            <a:avLst>
              <a:gd name="adj" fmla="val 8140"/>
            </a:avLst>
          </a:prstGeom>
          <a:solidFill>
            <a:srgbClr val="1C2F4F"/>
          </a:solidFill>
          <a:ln w="12700">
            <a:solidFill>
              <a:srgbClr val="2A4063"/>
            </a:solidFill>
            <a:prstDash val="solid"/>
          </a:ln>
        </p:spPr>
      </p:sp>
      <p:sp>
        <p:nvSpPr>
          <p:cNvPr id="23" name="Text 13"/>
          <p:cNvSpPr/>
          <p:nvPr/>
        </p:nvSpPr>
        <p:spPr>
          <a:xfrm>
            <a:off x="393192" y="4114800"/>
            <a:ext cx="1965960" cy="411480"/>
          </a:xfrm>
          <a:prstGeom prst="rect">
            <a:avLst/>
          </a:prstGeom>
          <a:noFill/>
          <a:ln/>
        </p:spPr>
        <p:txBody>
          <a:bodyPr wrap="square" lIns="0" tIns="0" rIns="0" bIns="0" rtlCol="0" anchor="ctr"/>
          <a:lstStyle/>
          <a:p>
            <a:pPr algn="ctr" indent="0" marL="0">
              <a:buNone/>
            </a:pPr>
            <a:r>
              <a:rPr lang="en-US" sz="2200" b="1" dirty="0">
                <a:solidFill>
                  <a:srgbClr val="0FA3A3"/>
                </a:solidFill>
                <a:latin typeface="Cambria" pitchFamily="34" charset="0"/>
                <a:ea typeface="Cambria" pitchFamily="34" charset="-122"/>
                <a:cs typeface="Cambria" pitchFamily="34" charset="-120"/>
              </a:rPr>
              <a:t>65</a:t>
            </a:r>
            <a:endParaRPr lang="en-US" sz="2200" dirty="0"/>
          </a:p>
        </p:txBody>
      </p:sp>
      <p:sp>
        <p:nvSpPr>
          <p:cNvPr id="24" name="Text 14"/>
          <p:cNvSpPr/>
          <p:nvPr/>
        </p:nvSpPr>
        <p:spPr>
          <a:xfrm>
            <a:off x="393192" y="4517136"/>
            <a:ext cx="1965960" cy="274320"/>
          </a:xfrm>
          <a:prstGeom prst="rect">
            <a:avLst/>
          </a:prstGeom>
          <a:noFill/>
          <a:ln/>
        </p:spPr>
        <p:txBody>
          <a:bodyPr wrap="square" lIns="0" tIns="0" rIns="0" bIns="0" rtlCol="0" anchor="ctr"/>
          <a:lstStyle/>
          <a:p>
            <a:pPr algn="ctr" indent="0" marL="0">
              <a:buNone/>
            </a:pPr>
            <a:r>
              <a:rPr lang="en-US" sz="1050" dirty="0">
                <a:solidFill>
                  <a:srgbClr val="C9D6E8"/>
                </a:solidFill>
                <a:latin typeface="Calibri" pitchFamily="34" charset="0"/>
                <a:ea typeface="Calibri" pitchFamily="34" charset="-122"/>
                <a:cs typeface="Calibri" pitchFamily="34" charset="-120"/>
              </a:rPr>
              <a:t>PWM cruise</a:t>
            </a:r>
            <a:endParaRPr lang="en-US" sz="1050" dirty="0"/>
          </a:p>
        </p:txBody>
      </p:sp>
      <p:sp>
        <p:nvSpPr>
          <p:cNvPr id="25" name="Shape 15"/>
          <p:cNvSpPr/>
          <p:nvPr/>
        </p:nvSpPr>
        <p:spPr>
          <a:xfrm>
            <a:off x="2523744" y="4041648"/>
            <a:ext cx="1965960" cy="786384"/>
          </a:xfrm>
          <a:prstGeom prst="roundRect">
            <a:avLst>
              <a:gd name="adj" fmla="val 8140"/>
            </a:avLst>
          </a:prstGeom>
          <a:solidFill>
            <a:srgbClr val="1C2F4F"/>
          </a:solidFill>
          <a:ln w="12700">
            <a:solidFill>
              <a:srgbClr val="2A4063"/>
            </a:solidFill>
            <a:prstDash val="solid"/>
          </a:ln>
        </p:spPr>
      </p:sp>
      <p:sp>
        <p:nvSpPr>
          <p:cNvPr id="26" name="Text 16"/>
          <p:cNvSpPr/>
          <p:nvPr/>
        </p:nvSpPr>
        <p:spPr>
          <a:xfrm>
            <a:off x="2523744" y="4114800"/>
            <a:ext cx="1965960" cy="411480"/>
          </a:xfrm>
          <a:prstGeom prst="rect">
            <a:avLst/>
          </a:prstGeom>
          <a:noFill/>
          <a:ln/>
        </p:spPr>
        <p:txBody>
          <a:bodyPr wrap="square" lIns="0" tIns="0" rIns="0" bIns="0" rtlCol="0" anchor="ctr"/>
          <a:lstStyle/>
          <a:p>
            <a:pPr algn="ctr" indent="0" marL="0">
              <a:buNone/>
            </a:pPr>
            <a:r>
              <a:rPr lang="en-US" sz="2200" b="1" dirty="0">
                <a:solidFill>
                  <a:srgbClr val="0FA3A3"/>
                </a:solidFill>
                <a:latin typeface="Cambria" pitchFamily="34" charset="0"/>
                <a:ea typeface="Cambria" pitchFamily="34" charset="-122"/>
                <a:cs typeface="Cambria" pitchFamily="34" charset="-120"/>
              </a:rPr>
              <a:t>150 / 60</a:t>
            </a:r>
            <a:endParaRPr lang="en-US" sz="2200" dirty="0"/>
          </a:p>
        </p:txBody>
      </p:sp>
      <p:sp>
        <p:nvSpPr>
          <p:cNvPr id="27" name="Text 17"/>
          <p:cNvSpPr/>
          <p:nvPr/>
        </p:nvSpPr>
        <p:spPr>
          <a:xfrm>
            <a:off x="2523744" y="4517136"/>
            <a:ext cx="1965960" cy="274320"/>
          </a:xfrm>
          <a:prstGeom prst="rect">
            <a:avLst/>
          </a:prstGeom>
          <a:noFill/>
          <a:ln/>
        </p:spPr>
        <p:txBody>
          <a:bodyPr wrap="square" lIns="0" tIns="0" rIns="0" bIns="0" rtlCol="0" anchor="ctr"/>
          <a:lstStyle/>
          <a:p>
            <a:pPr algn="ctr" indent="0" marL="0">
              <a:buNone/>
            </a:pPr>
            <a:r>
              <a:rPr lang="en-US" sz="1050" dirty="0">
                <a:solidFill>
                  <a:srgbClr val="C9D6E8"/>
                </a:solidFill>
                <a:latin typeface="Calibri" pitchFamily="34" charset="0"/>
                <a:ea typeface="Calibri" pitchFamily="34" charset="-122"/>
                <a:cs typeface="Calibri" pitchFamily="34" charset="-120"/>
              </a:rPr>
              <a:t>kick PWM / ms</a:t>
            </a:r>
            <a:endParaRPr lang="en-US" sz="1050" dirty="0"/>
          </a:p>
        </p:txBody>
      </p:sp>
      <p:sp>
        <p:nvSpPr>
          <p:cNvPr id="28" name="Shape 18"/>
          <p:cNvSpPr/>
          <p:nvPr/>
        </p:nvSpPr>
        <p:spPr>
          <a:xfrm>
            <a:off x="4654296" y="4041648"/>
            <a:ext cx="1965960" cy="786384"/>
          </a:xfrm>
          <a:prstGeom prst="roundRect">
            <a:avLst>
              <a:gd name="adj" fmla="val 8140"/>
            </a:avLst>
          </a:prstGeom>
          <a:solidFill>
            <a:srgbClr val="1C2F4F"/>
          </a:solidFill>
          <a:ln w="12700">
            <a:solidFill>
              <a:srgbClr val="2A4063"/>
            </a:solidFill>
            <a:prstDash val="solid"/>
          </a:ln>
        </p:spPr>
      </p:sp>
      <p:sp>
        <p:nvSpPr>
          <p:cNvPr id="29" name="Text 19"/>
          <p:cNvSpPr/>
          <p:nvPr/>
        </p:nvSpPr>
        <p:spPr>
          <a:xfrm>
            <a:off x="4654296" y="4114800"/>
            <a:ext cx="1965960" cy="411480"/>
          </a:xfrm>
          <a:prstGeom prst="rect">
            <a:avLst/>
          </a:prstGeom>
          <a:noFill/>
          <a:ln/>
        </p:spPr>
        <p:txBody>
          <a:bodyPr wrap="square" lIns="0" tIns="0" rIns="0" bIns="0" rtlCol="0" anchor="ctr"/>
          <a:lstStyle/>
          <a:p>
            <a:pPr algn="ctr" indent="0" marL="0">
              <a:buNone/>
            </a:pPr>
            <a:r>
              <a:rPr lang="en-US" sz="2200" b="1" dirty="0">
                <a:solidFill>
                  <a:srgbClr val="0FA3A3"/>
                </a:solidFill>
                <a:latin typeface="Cambria" pitchFamily="34" charset="0"/>
                <a:ea typeface="Cambria" pitchFamily="34" charset="-122"/>
                <a:cs typeface="Cambria" pitchFamily="34" charset="-120"/>
              </a:rPr>
              <a:t>600</a:t>
            </a:r>
            <a:endParaRPr lang="en-US" sz="2200" dirty="0"/>
          </a:p>
        </p:txBody>
      </p:sp>
      <p:sp>
        <p:nvSpPr>
          <p:cNvPr id="30" name="Text 20"/>
          <p:cNvSpPr/>
          <p:nvPr/>
        </p:nvSpPr>
        <p:spPr>
          <a:xfrm>
            <a:off x="4654296" y="4517136"/>
            <a:ext cx="1965960" cy="274320"/>
          </a:xfrm>
          <a:prstGeom prst="rect">
            <a:avLst/>
          </a:prstGeom>
          <a:noFill/>
          <a:ln/>
        </p:spPr>
        <p:txBody>
          <a:bodyPr wrap="square" lIns="0" tIns="0" rIns="0" bIns="0" rtlCol="0" anchor="ctr"/>
          <a:lstStyle/>
          <a:p>
            <a:pPr algn="ctr" indent="0" marL="0">
              <a:buNone/>
            </a:pPr>
            <a:r>
              <a:rPr lang="en-US" sz="1050" dirty="0">
                <a:solidFill>
                  <a:srgbClr val="C9D6E8"/>
                </a:solidFill>
                <a:latin typeface="Calibri" pitchFamily="34" charset="0"/>
                <a:ea typeface="Calibri" pitchFamily="34" charset="-122"/>
                <a:cs typeface="Calibri" pitchFamily="34" charset="-120"/>
              </a:rPr>
              <a:t>ms straight pass</a:t>
            </a:r>
            <a:endParaRPr lang="en-US" sz="1050" dirty="0"/>
          </a:p>
        </p:txBody>
      </p:sp>
      <p:sp>
        <p:nvSpPr>
          <p:cNvPr id="31" name="Shape 21"/>
          <p:cNvSpPr/>
          <p:nvPr/>
        </p:nvSpPr>
        <p:spPr>
          <a:xfrm>
            <a:off x="6784848" y="4041648"/>
            <a:ext cx="1965960" cy="786384"/>
          </a:xfrm>
          <a:prstGeom prst="roundRect">
            <a:avLst>
              <a:gd name="adj" fmla="val 8140"/>
            </a:avLst>
          </a:prstGeom>
          <a:solidFill>
            <a:srgbClr val="1C2F4F"/>
          </a:solidFill>
          <a:ln w="12700">
            <a:solidFill>
              <a:srgbClr val="2A4063"/>
            </a:solidFill>
            <a:prstDash val="solid"/>
          </a:ln>
        </p:spPr>
      </p:sp>
      <p:sp>
        <p:nvSpPr>
          <p:cNvPr id="32" name="Text 22"/>
          <p:cNvSpPr/>
          <p:nvPr/>
        </p:nvSpPr>
        <p:spPr>
          <a:xfrm>
            <a:off x="6784848" y="4114800"/>
            <a:ext cx="1965960" cy="411480"/>
          </a:xfrm>
          <a:prstGeom prst="rect">
            <a:avLst/>
          </a:prstGeom>
          <a:noFill/>
          <a:ln/>
        </p:spPr>
        <p:txBody>
          <a:bodyPr wrap="square" lIns="0" tIns="0" rIns="0" bIns="0" rtlCol="0" anchor="ctr"/>
          <a:lstStyle/>
          <a:p>
            <a:pPr algn="ctr" indent="0" marL="0">
              <a:buNone/>
            </a:pPr>
            <a:r>
              <a:rPr lang="en-US" sz="2200" b="1" dirty="0">
                <a:solidFill>
                  <a:srgbClr val="0FA3A3"/>
                </a:solidFill>
                <a:latin typeface="Cambria" pitchFamily="34" charset="0"/>
                <a:ea typeface="Cambria" pitchFamily="34" charset="-122"/>
                <a:cs typeface="Cambria" pitchFamily="34" charset="-120"/>
              </a:rPr>
              <a:t>~14</a:t>
            </a:r>
            <a:endParaRPr lang="en-US" sz="2200" dirty="0"/>
          </a:p>
        </p:txBody>
      </p:sp>
      <p:sp>
        <p:nvSpPr>
          <p:cNvPr id="33" name="Text 23"/>
          <p:cNvSpPr/>
          <p:nvPr/>
        </p:nvSpPr>
        <p:spPr>
          <a:xfrm>
            <a:off x="6784848" y="4517136"/>
            <a:ext cx="1965960" cy="274320"/>
          </a:xfrm>
          <a:prstGeom prst="rect">
            <a:avLst/>
          </a:prstGeom>
          <a:noFill/>
          <a:ln/>
        </p:spPr>
        <p:txBody>
          <a:bodyPr wrap="square" lIns="0" tIns="0" rIns="0" bIns="0" rtlCol="0" anchor="ctr"/>
          <a:lstStyle/>
          <a:p>
            <a:pPr algn="ctr" indent="0" marL="0">
              <a:buNone/>
            </a:pPr>
            <a:r>
              <a:rPr lang="en-US" sz="1050" dirty="0">
                <a:solidFill>
                  <a:srgbClr val="C9D6E8"/>
                </a:solidFill>
                <a:latin typeface="Calibri" pitchFamily="34" charset="0"/>
                <a:ea typeface="Calibri" pitchFamily="34" charset="-122"/>
                <a:cs typeface="Calibri" pitchFamily="34" charset="-120"/>
              </a:rPr>
              <a:t>cm trigger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Line-Following Robot</dc:title>
  <dc:subject>PptxGenJS Presentation</dc:subject>
  <dc:creator>Ibrahim</dc:creator>
  <cp:lastModifiedBy>Ibrahim</cp:lastModifiedBy>
  <cp:revision>1</cp:revision>
  <dcterms:created xsi:type="dcterms:W3CDTF">2026-06-24T12:59:23Z</dcterms:created>
  <dcterms:modified xsi:type="dcterms:W3CDTF">2026-06-24T12:59:23Z</dcterms:modified>
</cp:coreProperties>
</file>